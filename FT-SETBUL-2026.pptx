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801600" cy="9601200"/>
  <p:notesSz cx="9601200" cy="128016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801600" cy="987552"/>
          </a:xfrm>
          <a:prstGeom prst="rect">
            <a:avLst/>
          </a:prstGeom>
          <a:solidFill>
            <a:srgbClr val="3D3D3D"/>
          </a:solidFill>
          <a:ln w="12700">
            <a:solidFill>
              <a:srgbClr val="3D3D3D"/>
            </a:solidFill>
            <a:prstDash val="solid"/>
          </a:ln>
        </p:spPr>
      </p:sp>
      <p:sp>
        <p:nvSpPr>
          <p:cNvPr id="3" name="Shape 1"/>
          <p:cNvSpPr/>
          <p:nvPr/>
        </p:nvSpPr>
        <p:spPr>
          <a:xfrm>
            <a:off x="11978640" y="-45720"/>
            <a:ext cx="256032" cy="1216152"/>
          </a:xfrm>
          <a:prstGeom prst="rect">
            <a:avLst/>
          </a:prstGeom>
          <a:solidFill>
            <a:srgbClr val="B5CC00">
              <a:alpha val="72000"/>
            </a:srgbClr>
          </a:solidFill>
          <a:ln w="12700">
            <a:solidFill>
              <a:srgbClr val="B5CC00">
                <a:alpha val="72000"/>
              </a:srgbClr>
            </a:solidFill>
            <a:prstDash val="solid"/>
          </a:ln>
        </p:spPr>
      </p:sp>
      <p:sp>
        <p:nvSpPr>
          <p:cNvPr id="4" name="Shape 2"/>
          <p:cNvSpPr/>
          <p:nvPr/>
        </p:nvSpPr>
        <p:spPr>
          <a:xfrm>
            <a:off x="12298680" y="-45720"/>
            <a:ext cx="146304" cy="1124712"/>
          </a:xfrm>
          <a:prstGeom prst="rect">
            <a:avLst/>
          </a:prstGeom>
          <a:solidFill>
            <a:srgbClr val="B5CC00">
              <a:alpha val="45000"/>
            </a:srgbClr>
          </a:solidFill>
          <a:ln w="12700">
            <a:solidFill>
              <a:srgbClr val="B5CC00">
                <a:alpha val="45000"/>
              </a:srgbClr>
            </a:solidFill>
            <a:prstDash val="solid"/>
          </a:ln>
        </p:spPr>
      </p:sp>
      <p:pic>
        <p:nvPicPr>
          <p:cNvPr id="5" name="Image 0" descr="/home/claude/LogoUptoled_transparent.png">    </p:cNvPr>
          <p:cNvPicPr>
            <a:picLocks noChangeAspect="1"/>
          </p:cNvPicPr>
          <p:nvPr/>
        </p:nvPicPr>
        <p:blipFill>
          <a:blip r:embed="rId1"/>
          <a:srcRect l="0" r="0" t="0" b="0"/>
          <a:stretch/>
        </p:blipFill>
        <p:spPr>
          <a:xfrm>
            <a:off x="201168" y="157363"/>
            <a:ext cx="1828800" cy="672827"/>
          </a:xfrm>
          <a:prstGeom prst="rect">
            <a:avLst/>
          </a:prstGeom>
        </p:spPr>
      </p:pic>
      <p:sp>
        <p:nvSpPr>
          <p:cNvPr id="6" name="Text 3"/>
          <p:cNvSpPr/>
          <p:nvPr/>
        </p:nvSpPr>
        <p:spPr>
          <a:xfrm>
            <a:off x="2331720" y="82296"/>
            <a:ext cx="10058400" cy="164592"/>
          </a:xfrm>
          <a:prstGeom prst="rect">
            <a:avLst/>
          </a:prstGeom>
          <a:noFill/>
          <a:ln/>
        </p:spPr>
        <p:txBody>
          <a:bodyPr wrap="square" lIns="0" tIns="0" rIns="0" bIns="0" rtlCol="0" anchor="ctr"/>
          <a:lstStyle/>
          <a:p>
            <a:pPr indent="0" marL="0">
              <a:buNone/>
            </a:pPr>
            <a:r>
              <a:rPr lang="en-US" sz="700" b="1" spc="200" kern="0" dirty="0">
                <a:solidFill>
                  <a:srgbClr val="B5CC00"/>
                </a:solidFill>
                <a:latin typeface="Calibri" pitchFamily="34" charset="0"/>
                <a:ea typeface="Calibri" pitchFamily="34" charset="-122"/>
                <a:cs typeface="Calibri" pitchFamily="34" charset="-120"/>
              </a:rPr>
              <a:t>ÉCLAIRAGE INDUSTRIEL  ·  SETBUL</a:t>
            </a:r>
            <a:endParaRPr lang="en-US" sz="700" dirty="0"/>
          </a:p>
        </p:txBody>
      </p:sp>
      <p:sp>
        <p:nvSpPr>
          <p:cNvPr id="7" name="Text 4"/>
          <p:cNvSpPr/>
          <p:nvPr/>
        </p:nvSpPr>
        <p:spPr>
          <a:xfrm>
            <a:off x="2331720" y="219456"/>
            <a:ext cx="10058400" cy="475488"/>
          </a:xfrm>
          <a:prstGeom prst="rect">
            <a:avLst/>
          </a:prstGeom>
          <a:noFill/>
          <a:ln/>
        </p:spPr>
        <p:txBody>
          <a:bodyPr wrap="square" lIns="0" tIns="0" rIns="0" bIns="0" rtlCol="0" anchor="ctr"/>
          <a:lstStyle/>
          <a:p>
            <a:pPr indent="0" marL="0">
              <a:buNone/>
            </a:pPr>
            <a:r>
              <a:rPr lang="en-US" sz="3200" b="1" spc="100" kern="0" dirty="0">
                <a:solidFill>
                  <a:srgbClr val="FFFFFF"/>
                </a:solidFill>
                <a:latin typeface="Calibri" pitchFamily="34" charset="0"/>
                <a:ea typeface="Calibri" pitchFamily="34" charset="-122"/>
                <a:cs typeface="Calibri" pitchFamily="34" charset="-120"/>
              </a:rPr>
              <a:t>ARMATURE METAL SETBUL</a:t>
            </a:r>
            <a:endParaRPr lang="en-US" sz="3200" dirty="0"/>
          </a:p>
        </p:txBody>
      </p:sp>
      <p:sp>
        <p:nvSpPr>
          <p:cNvPr id="8" name="Text 5"/>
          <p:cNvSpPr/>
          <p:nvPr/>
        </p:nvSpPr>
        <p:spPr>
          <a:xfrm>
            <a:off x="2331720" y="731520"/>
            <a:ext cx="10058400" cy="182880"/>
          </a:xfrm>
          <a:prstGeom prst="rect">
            <a:avLst/>
          </a:prstGeom>
          <a:noFill/>
          <a:ln/>
        </p:spPr>
        <p:txBody>
          <a:bodyPr wrap="square" lIns="0" tIns="0" rIns="0" bIns="0" rtlCol="0" anchor="ctr"/>
          <a:lstStyle/>
          <a:p>
            <a:pPr indent="0" marL="0">
              <a:buNone/>
            </a:pPr>
            <a:r>
              <a:rPr lang="en-US" sz="850" i="1" dirty="0">
                <a:solidFill>
                  <a:srgbClr val="999999"/>
                </a:solidFill>
                <a:latin typeface="Calibri" pitchFamily="34" charset="0"/>
                <a:ea typeface="Calibri" pitchFamily="34" charset="-122"/>
                <a:cs typeface="Calibri" pitchFamily="34" charset="-120"/>
              </a:rPr>
              <a:t>Éclairage LED haute durabilité pour zones à risque et environnements agressifs</a:t>
            </a:r>
            <a:endParaRPr lang="en-US" sz="850" dirty="0"/>
          </a:p>
        </p:txBody>
      </p:sp>
      <p:sp>
        <p:nvSpPr>
          <p:cNvPr id="9" name="Shape 6"/>
          <p:cNvSpPr/>
          <p:nvPr/>
        </p:nvSpPr>
        <p:spPr>
          <a:xfrm>
            <a:off x="0" y="987552"/>
            <a:ext cx="12801600" cy="59436"/>
          </a:xfrm>
          <a:prstGeom prst="rect">
            <a:avLst/>
          </a:prstGeom>
          <a:solidFill>
            <a:srgbClr val="B5CC00"/>
          </a:solidFill>
          <a:ln w="12700">
            <a:solidFill>
              <a:srgbClr val="B5CC00"/>
            </a:solidFill>
            <a:prstDash val="solid"/>
          </a:ln>
        </p:spPr>
      </p:sp>
      <p:sp>
        <p:nvSpPr>
          <p:cNvPr id="10" name="Shape 7"/>
          <p:cNvSpPr/>
          <p:nvPr/>
        </p:nvSpPr>
        <p:spPr>
          <a:xfrm>
            <a:off x="0" y="1046988"/>
            <a:ext cx="12801600" cy="457200"/>
          </a:xfrm>
          <a:prstGeom prst="rect">
            <a:avLst/>
          </a:prstGeom>
          <a:solidFill>
            <a:srgbClr val="F4F4F4"/>
          </a:solidFill>
          <a:ln w="6350">
            <a:solidFill>
              <a:srgbClr val="DEDEDE"/>
            </a:solidFill>
            <a:prstDash val="solid"/>
          </a:ln>
        </p:spPr>
      </p:sp>
      <p:sp>
        <p:nvSpPr>
          <p:cNvPr id="11" name="Text 8"/>
          <p:cNvSpPr/>
          <p:nvPr/>
        </p:nvSpPr>
        <p:spPr>
          <a:xfrm>
            <a:off x="201168" y="1046988"/>
            <a:ext cx="1005840" cy="457200"/>
          </a:xfrm>
          <a:prstGeom prst="rect">
            <a:avLst/>
          </a:prstGeom>
          <a:noFill/>
          <a:ln/>
        </p:spPr>
        <p:txBody>
          <a:bodyPr wrap="square" lIns="0" tIns="0" rIns="0" bIns="0" rtlCol="0" anchor="ctr"/>
          <a:lstStyle/>
          <a:p>
            <a:pPr indent="0" marL="0">
              <a:buNone/>
            </a:pPr>
            <a:r>
              <a:rPr lang="en-US" sz="600" b="1" spc="30" kern="0" dirty="0">
                <a:solidFill>
                  <a:srgbClr val="6B6B6B"/>
                </a:solidFill>
                <a:latin typeface="Calibri" pitchFamily="34" charset="0"/>
                <a:ea typeface="Calibri" pitchFamily="34" charset="-122"/>
                <a:cs typeface="Calibri" pitchFamily="34" charset="-120"/>
              </a:rPr>
              <a:t>CERTIFICATIONS</a:t>
            </a:r>
            <a:endParaRPr lang="en-US" sz="600" dirty="0"/>
          </a:p>
        </p:txBody>
      </p:sp>
      <p:sp>
        <p:nvSpPr>
          <p:cNvPr id="12" name="Shape 9"/>
          <p:cNvSpPr/>
          <p:nvPr/>
        </p:nvSpPr>
        <p:spPr>
          <a:xfrm>
            <a:off x="1298448" y="1223010"/>
            <a:ext cx="105156" cy="105156"/>
          </a:xfrm>
          <a:prstGeom prst="rect">
            <a:avLst/>
          </a:prstGeom>
          <a:solidFill>
            <a:srgbClr val="B5CC00"/>
          </a:solidFill>
          <a:ln w="9525">
            <a:solidFill>
              <a:srgbClr val="B5CC00"/>
            </a:solidFill>
            <a:prstDash val="solid"/>
          </a:ln>
        </p:spPr>
      </p:sp>
      <p:sp>
        <p:nvSpPr>
          <p:cNvPr id="13" name="Text 10"/>
          <p:cNvSpPr/>
          <p:nvPr/>
        </p:nvSpPr>
        <p:spPr>
          <a:xfrm>
            <a:off x="1298448" y="1213866"/>
            <a:ext cx="105156" cy="105156"/>
          </a:xfrm>
          <a:prstGeom prst="rect">
            <a:avLst/>
          </a:prstGeom>
          <a:noFill/>
          <a:ln/>
        </p:spPr>
        <p:txBody>
          <a:bodyPr wrap="square" lIns="0" tIns="0" rIns="0" bIns="0" rtlCol="0" anchor="ctr"/>
          <a:lstStyle/>
          <a:p>
            <a:pPr algn="ctr" indent="0" marL="0">
              <a:buNone/>
            </a:pPr>
            <a:r>
              <a:rPr lang="en-US" sz="650" b="1" dirty="0">
                <a:solidFill>
                  <a:srgbClr val="3D3D3D"/>
                </a:solidFill>
                <a:latin typeface="Calibri" pitchFamily="34" charset="0"/>
                <a:ea typeface="Calibri" pitchFamily="34" charset="-122"/>
                <a:cs typeface="Calibri" pitchFamily="34" charset="-120"/>
              </a:rPr>
              <a:t>✓</a:t>
            </a:r>
            <a:endParaRPr lang="en-US" sz="650" dirty="0"/>
          </a:p>
        </p:txBody>
      </p:sp>
      <p:sp>
        <p:nvSpPr>
          <p:cNvPr id="14" name="Text 11"/>
          <p:cNvSpPr/>
          <p:nvPr/>
        </p:nvSpPr>
        <p:spPr>
          <a:xfrm>
            <a:off x="1435608" y="1046988"/>
            <a:ext cx="182880"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CE</a:t>
            </a:r>
            <a:endParaRPr lang="en-US" sz="650" dirty="0"/>
          </a:p>
        </p:txBody>
      </p:sp>
      <p:sp>
        <p:nvSpPr>
          <p:cNvPr id="15" name="Shape 12"/>
          <p:cNvSpPr/>
          <p:nvPr/>
        </p:nvSpPr>
        <p:spPr>
          <a:xfrm>
            <a:off x="1673352" y="1110996"/>
            <a:ext cx="0" cy="329184"/>
          </a:xfrm>
          <a:prstGeom prst="line">
            <a:avLst/>
          </a:prstGeom>
          <a:noFill/>
          <a:ln w="6350">
            <a:solidFill>
              <a:srgbClr val="C8C8C8"/>
            </a:solidFill>
            <a:prstDash val="solid"/>
          </a:ln>
        </p:spPr>
      </p:sp>
      <p:sp>
        <p:nvSpPr>
          <p:cNvPr id="16" name="Text 13"/>
          <p:cNvSpPr/>
          <p:nvPr/>
        </p:nvSpPr>
        <p:spPr>
          <a:xfrm>
            <a:off x="1755648" y="1046988"/>
            <a:ext cx="237744" cy="457200"/>
          </a:xfrm>
          <a:prstGeom prst="rect">
            <a:avLst/>
          </a:prstGeom>
          <a:noFill/>
          <a:ln/>
        </p:spPr>
        <p:txBody>
          <a:bodyPr wrap="square" lIns="0" tIns="0" rIns="0" bIns="0" rtlCol="0" anchor="ctr"/>
          <a:lstStyle/>
          <a:p>
            <a:pPr indent="0" marL="0">
              <a:buNone/>
            </a:pPr>
            <a:r>
              <a:rPr lang="en-US" sz="600" b="1" dirty="0">
                <a:solidFill>
                  <a:srgbClr val="6B6B6B"/>
                </a:solidFill>
                <a:latin typeface="Calibri" pitchFamily="34" charset="0"/>
                <a:ea typeface="Calibri" pitchFamily="34" charset="-122"/>
                <a:cs typeface="Calibri" pitchFamily="34" charset="-120"/>
              </a:rPr>
              <a:t>IP</a:t>
            </a:r>
            <a:endParaRPr lang="en-US" sz="600" dirty="0"/>
          </a:p>
        </p:txBody>
      </p:sp>
      <p:sp>
        <p:nvSpPr>
          <p:cNvPr id="17" name="Shape 14"/>
          <p:cNvSpPr/>
          <p:nvPr/>
        </p:nvSpPr>
        <p:spPr>
          <a:xfrm>
            <a:off x="1993392" y="1223010"/>
            <a:ext cx="105156" cy="105156"/>
          </a:xfrm>
          <a:prstGeom prst="rect">
            <a:avLst/>
          </a:prstGeom>
          <a:solidFill>
            <a:srgbClr val="FFFFFF"/>
          </a:solidFill>
          <a:ln w="9525">
            <a:solidFill>
              <a:srgbClr val="AAAAAA"/>
            </a:solidFill>
            <a:prstDash val="solid"/>
          </a:ln>
        </p:spPr>
      </p:sp>
      <p:sp>
        <p:nvSpPr>
          <p:cNvPr id="18" name="Text 15"/>
          <p:cNvSpPr/>
          <p:nvPr/>
        </p:nvSpPr>
        <p:spPr>
          <a:xfrm>
            <a:off x="2130552" y="1046988"/>
            <a:ext cx="164592"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20</a:t>
            </a:r>
            <a:endParaRPr lang="en-US" sz="650" dirty="0"/>
          </a:p>
        </p:txBody>
      </p:sp>
      <p:sp>
        <p:nvSpPr>
          <p:cNvPr id="19" name="Shape 16"/>
          <p:cNvSpPr/>
          <p:nvPr/>
        </p:nvSpPr>
        <p:spPr>
          <a:xfrm>
            <a:off x="2322576" y="1223010"/>
            <a:ext cx="105156" cy="105156"/>
          </a:xfrm>
          <a:prstGeom prst="rect">
            <a:avLst/>
          </a:prstGeom>
          <a:solidFill>
            <a:srgbClr val="FFFFFF"/>
          </a:solidFill>
          <a:ln w="9525">
            <a:solidFill>
              <a:srgbClr val="AAAAAA"/>
            </a:solidFill>
            <a:prstDash val="solid"/>
          </a:ln>
        </p:spPr>
      </p:sp>
      <p:sp>
        <p:nvSpPr>
          <p:cNvPr id="20" name="Text 17"/>
          <p:cNvSpPr/>
          <p:nvPr/>
        </p:nvSpPr>
        <p:spPr>
          <a:xfrm>
            <a:off x="2459736" y="1046988"/>
            <a:ext cx="164592"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40</a:t>
            </a:r>
            <a:endParaRPr lang="en-US" sz="650" dirty="0"/>
          </a:p>
        </p:txBody>
      </p:sp>
      <p:sp>
        <p:nvSpPr>
          <p:cNvPr id="21" name="Shape 18"/>
          <p:cNvSpPr/>
          <p:nvPr/>
        </p:nvSpPr>
        <p:spPr>
          <a:xfrm>
            <a:off x="2651760" y="1223010"/>
            <a:ext cx="105156" cy="105156"/>
          </a:xfrm>
          <a:prstGeom prst="rect">
            <a:avLst/>
          </a:prstGeom>
          <a:solidFill>
            <a:srgbClr val="B5CC00"/>
          </a:solidFill>
          <a:ln w="9525">
            <a:solidFill>
              <a:srgbClr val="B5CC00"/>
            </a:solidFill>
            <a:prstDash val="solid"/>
          </a:ln>
        </p:spPr>
      </p:sp>
      <p:sp>
        <p:nvSpPr>
          <p:cNvPr id="22" name="Text 19"/>
          <p:cNvSpPr/>
          <p:nvPr/>
        </p:nvSpPr>
        <p:spPr>
          <a:xfrm>
            <a:off x="2651760" y="1213866"/>
            <a:ext cx="105156" cy="105156"/>
          </a:xfrm>
          <a:prstGeom prst="rect">
            <a:avLst/>
          </a:prstGeom>
          <a:noFill/>
          <a:ln/>
        </p:spPr>
        <p:txBody>
          <a:bodyPr wrap="square" lIns="0" tIns="0" rIns="0" bIns="0" rtlCol="0" anchor="ctr"/>
          <a:lstStyle/>
          <a:p>
            <a:pPr algn="ctr" indent="0" marL="0">
              <a:buNone/>
            </a:pPr>
            <a:r>
              <a:rPr lang="en-US" sz="650" b="1" dirty="0">
                <a:solidFill>
                  <a:srgbClr val="3D3D3D"/>
                </a:solidFill>
                <a:latin typeface="Calibri" pitchFamily="34" charset="0"/>
                <a:ea typeface="Calibri" pitchFamily="34" charset="-122"/>
                <a:cs typeface="Calibri" pitchFamily="34" charset="-120"/>
              </a:rPr>
              <a:t>✓</a:t>
            </a:r>
            <a:endParaRPr lang="en-US" sz="650" dirty="0"/>
          </a:p>
        </p:txBody>
      </p:sp>
      <p:sp>
        <p:nvSpPr>
          <p:cNvPr id="23" name="Text 20"/>
          <p:cNvSpPr/>
          <p:nvPr/>
        </p:nvSpPr>
        <p:spPr>
          <a:xfrm>
            <a:off x="2788920" y="1046988"/>
            <a:ext cx="164592"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65</a:t>
            </a:r>
            <a:endParaRPr lang="en-US" sz="650" dirty="0"/>
          </a:p>
        </p:txBody>
      </p:sp>
      <p:sp>
        <p:nvSpPr>
          <p:cNvPr id="24" name="Shape 21"/>
          <p:cNvSpPr/>
          <p:nvPr/>
        </p:nvSpPr>
        <p:spPr>
          <a:xfrm>
            <a:off x="2980944" y="1223010"/>
            <a:ext cx="105156" cy="105156"/>
          </a:xfrm>
          <a:prstGeom prst="rect">
            <a:avLst/>
          </a:prstGeom>
          <a:solidFill>
            <a:srgbClr val="FFFFFF"/>
          </a:solidFill>
          <a:ln w="9525">
            <a:solidFill>
              <a:srgbClr val="AAAAAA"/>
            </a:solidFill>
            <a:prstDash val="solid"/>
          </a:ln>
        </p:spPr>
      </p:sp>
      <p:sp>
        <p:nvSpPr>
          <p:cNvPr id="25" name="Text 22"/>
          <p:cNvSpPr/>
          <p:nvPr/>
        </p:nvSpPr>
        <p:spPr>
          <a:xfrm>
            <a:off x="3118104" y="1046988"/>
            <a:ext cx="164592"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66</a:t>
            </a:r>
            <a:endParaRPr lang="en-US" sz="650" dirty="0"/>
          </a:p>
        </p:txBody>
      </p:sp>
      <p:sp>
        <p:nvSpPr>
          <p:cNvPr id="26" name="Shape 23"/>
          <p:cNvSpPr/>
          <p:nvPr/>
        </p:nvSpPr>
        <p:spPr>
          <a:xfrm>
            <a:off x="3310128" y="1223010"/>
            <a:ext cx="105156" cy="105156"/>
          </a:xfrm>
          <a:prstGeom prst="rect">
            <a:avLst/>
          </a:prstGeom>
          <a:solidFill>
            <a:srgbClr val="FFFFFF"/>
          </a:solidFill>
          <a:ln w="9525">
            <a:solidFill>
              <a:srgbClr val="AAAAAA"/>
            </a:solidFill>
            <a:prstDash val="solid"/>
          </a:ln>
        </p:spPr>
      </p:sp>
      <p:sp>
        <p:nvSpPr>
          <p:cNvPr id="27" name="Text 24"/>
          <p:cNvSpPr/>
          <p:nvPr/>
        </p:nvSpPr>
        <p:spPr>
          <a:xfrm>
            <a:off x="3447288" y="1046988"/>
            <a:ext cx="164592"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67</a:t>
            </a:r>
            <a:endParaRPr lang="en-US" sz="650" dirty="0"/>
          </a:p>
        </p:txBody>
      </p:sp>
      <p:sp>
        <p:nvSpPr>
          <p:cNvPr id="28" name="Shape 25"/>
          <p:cNvSpPr/>
          <p:nvPr/>
        </p:nvSpPr>
        <p:spPr>
          <a:xfrm>
            <a:off x="3639312" y="1223010"/>
            <a:ext cx="105156" cy="105156"/>
          </a:xfrm>
          <a:prstGeom prst="rect">
            <a:avLst/>
          </a:prstGeom>
          <a:solidFill>
            <a:srgbClr val="FFFFFF"/>
          </a:solidFill>
          <a:ln w="9525">
            <a:solidFill>
              <a:srgbClr val="AAAAAA"/>
            </a:solidFill>
            <a:prstDash val="solid"/>
          </a:ln>
        </p:spPr>
      </p:sp>
      <p:sp>
        <p:nvSpPr>
          <p:cNvPr id="29" name="Text 26"/>
          <p:cNvSpPr/>
          <p:nvPr/>
        </p:nvSpPr>
        <p:spPr>
          <a:xfrm>
            <a:off x="3776472" y="1046988"/>
            <a:ext cx="228600"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69K</a:t>
            </a:r>
            <a:endParaRPr lang="en-US" sz="650" dirty="0"/>
          </a:p>
        </p:txBody>
      </p:sp>
      <p:sp>
        <p:nvSpPr>
          <p:cNvPr id="30" name="Shape 27"/>
          <p:cNvSpPr/>
          <p:nvPr/>
        </p:nvSpPr>
        <p:spPr>
          <a:xfrm>
            <a:off x="4059936" y="1110996"/>
            <a:ext cx="0" cy="329184"/>
          </a:xfrm>
          <a:prstGeom prst="line">
            <a:avLst/>
          </a:prstGeom>
          <a:noFill/>
          <a:ln w="6350">
            <a:solidFill>
              <a:srgbClr val="C8C8C8"/>
            </a:solidFill>
            <a:prstDash val="solid"/>
          </a:ln>
        </p:spPr>
      </p:sp>
      <p:sp>
        <p:nvSpPr>
          <p:cNvPr id="31" name="Text 28"/>
          <p:cNvSpPr/>
          <p:nvPr/>
        </p:nvSpPr>
        <p:spPr>
          <a:xfrm>
            <a:off x="4142232" y="1046988"/>
            <a:ext cx="237744" cy="457200"/>
          </a:xfrm>
          <a:prstGeom prst="rect">
            <a:avLst/>
          </a:prstGeom>
          <a:noFill/>
          <a:ln/>
        </p:spPr>
        <p:txBody>
          <a:bodyPr wrap="square" lIns="0" tIns="0" rIns="0" bIns="0" rtlCol="0" anchor="ctr"/>
          <a:lstStyle/>
          <a:p>
            <a:pPr indent="0" marL="0">
              <a:buNone/>
            </a:pPr>
            <a:r>
              <a:rPr lang="en-US" sz="600" b="1" dirty="0">
                <a:solidFill>
                  <a:srgbClr val="6B6B6B"/>
                </a:solidFill>
                <a:latin typeface="Calibri" pitchFamily="34" charset="0"/>
                <a:ea typeface="Calibri" pitchFamily="34" charset="-122"/>
                <a:cs typeface="Calibri" pitchFamily="34" charset="-120"/>
              </a:rPr>
              <a:t>IK</a:t>
            </a:r>
            <a:endParaRPr lang="en-US" sz="600" dirty="0"/>
          </a:p>
        </p:txBody>
      </p:sp>
      <p:sp>
        <p:nvSpPr>
          <p:cNvPr id="32" name="Shape 29"/>
          <p:cNvSpPr/>
          <p:nvPr/>
        </p:nvSpPr>
        <p:spPr>
          <a:xfrm>
            <a:off x="4379976" y="1223010"/>
            <a:ext cx="105156" cy="105156"/>
          </a:xfrm>
          <a:prstGeom prst="rect">
            <a:avLst/>
          </a:prstGeom>
          <a:solidFill>
            <a:srgbClr val="FFFFFF"/>
          </a:solidFill>
          <a:ln w="9525">
            <a:solidFill>
              <a:srgbClr val="AAAAAA"/>
            </a:solidFill>
            <a:prstDash val="solid"/>
          </a:ln>
        </p:spPr>
      </p:sp>
      <p:sp>
        <p:nvSpPr>
          <p:cNvPr id="33" name="Text 30"/>
          <p:cNvSpPr/>
          <p:nvPr/>
        </p:nvSpPr>
        <p:spPr>
          <a:xfrm>
            <a:off x="4517136" y="1046988"/>
            <a:ext cx="164592"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08</a:t>
            </a:r>
            <a:endParaRPr lang="en-US" sz="650" dirty="0"/>
          </a:p>
        </p:txBody>
      </p:sp>
      <p:sp>
        <p:nvSpPr>
          <p:cNvPr id="34" name="Shape 31"/>
          <p:cNvSpPr/>
          <p:nvPr/>
        </p:nvSpPr>
        <p:spPr>
          <a:xfrm>
            <a:off x="4709160" y="1223010"/>
            <a:ext cx="105156" cy="105156"/>
          </a:xfrm>
          <a:prstGeom prst="rect">
            <a:avLst/>
          </a:prstGeom>
          <a:solidFill>
            <a:srgbClr val="B5CC00"/>
          </a:solidFill>
          <a:ln w="9525">
            <a:solidFill>
              <a:srgbClr val="B5CC00"/>
            </a:solidFill>
            <a:prstDash val="solid"/>
          </a:ln>
        </p:spPr>
      </p:sp>
      <p:sp>
        <p:nvSpPr>
          <p:cNvPr id="35" name="Text 32"/>
          <p:cNvSpPr/>
          <p:nvPr/>
        </p:nvSpPr>
        <p:spPr>
          <a:xfrm>
            <a:off x="4709160" y="1213866"/>
            <a:ext cx="105156" cy="105156"/>
          </a:xfrm>
          <a:prstGeom prst="rect">
            <a:avLst/>
          </a:prstGeom>
          <a:noFill/>
          <a:ln/>
        </p:spPr>
        <p:txBody>
          <a:bodyPr wrap="square" lIns="0" tIns="0" rIns="0" bIns="0" rtlCol="0" anchor="ctr"/>
          <a:lstStyle/>
          <a:p>
            <a:pPr algn="ctr" indent="0" marL="0">
              <a:buNone/>
            </a:pPr>
            <a:r>
              <a:rPr lang="en-US" sz="650" b="1" dirty="0">
                <a:solidFill>
                  <a:srgbClr val="3D3D3D"/>
                </a:solidFill>
                <a:latin typeface="Calibri" pitchFamily="34" charset="0"/>
                <a:ea typeface="Calibri" pitchFamily="34" charset="-122"/>
                <a:cs typeface="Calibri" pitchFamily="34" charset="-120"/>
              </a:rPr>
              <a:t>✓</a:t>
            </a:r>
            <a:endParaRPr lang="en-US" sz="650" dirty="0"/>
          </a:p>
        </p:txBody>
      </p:sp>
      <p:sp>
        <p:nvSpPr>
          <p:cNvPr id="36" name="Text 33"/>
          <p:cNvSpPr/>
          <p:nvPr/>
        </p:nvSpPr>
        <p:spPr>
          <a:xfrm>
            <a:off x="4846320" y="1046988"/>
            <a:ext cx="164592"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10</a:t>
            </a:r>
            <a:endParaRPr lang="en-US" sz="650" dirty="0"/>
          </a:p>
        </p:txBody>
      </p:sp>
      <p:sp>
        <p:nvSpPr>
          <p:cNvPr id="37" name="Shape 34"/>
          <p:cNvSpPr/>
          <p:nvPr/>
        </p:nvSpPr>
        <p:spPr>
          <a:xfrm>
            <a:off x="5065776" y="1110996"/>
            <a:ext cx="0" cy="329184"/>
          </a:xfrm>
          <a:prstGeom prst="line">
            <a:avLst/>
          </a:prstGeom>
          <a:noFill/>
          <a:ln w="6350">
            <a:solidFill>
              <a:srgbClr val="C8C8C8"/>
            </a:solidFill>
            <a:prstDash val="solid"/>
          </a:ln>
        </p:spPr>
      </p:sp>
      <p:sp>
        <p:nvSpPr>
          <p:cNvPr id="38" name="Text 35"/>
          <p:cNvSpPr/>
          <p:nvPr/>
        </p:nvSpPr>
        <p:spPr>
          <a:xfrm>
            <a:off x="5148072" y="1046988"/>
            <a:ext cx="237744" cy="457200"/>
          </a:xfrm>
          <a:prstGeom prst="rect">
            <a:avLst/>
          </a:prstGeom>
          <a:noFill/>
          <a:ln/>
        </p:spPr>
        <p:txBody>
          <a:bodyPr wrap="square" lIns="0" tIns="0" rIns="0" bIns="0" rtlCol="0" anchor="ctr"/>
          <a:lstStyle/>
          <a:p>
            <a:pPr indent="0" marL="0">
              <a:buNone/>
            </a:pPr>
            <a:r>
              <a:rPr lang="en-US" sz="600" b="1" dirty="0">
                <a:solidFill>
                  <a:srgbClr val="6B6B6B"/>
                </a:solidFill>
                <a:latin typeface="Calibri" pitchFamily="34" charset="0"/>
                <a:ea typeface="Calibri" pitchFamily="34" charset="-122"/>
                <a:cs typeface="Calibri" pitchFamily="34" charset="-120"/>
              </a:rPr>
              <a:t>IRC</a:t>
            </a:r>
            <a:endParaRPr lang="en-US" sz="600" dirty="0"/>
          </a:p>
        </p:txBody>
      </p:sp>
      <p:sp>
        <p:nvSpPr>
          <p:cNvPr id="39" name="Shape 36"/>
          <p:cNvSpPr/>
          <p:nvPr/>
        </p:nvSpPr>
        <p:spPr>
          <a:xfrm>
            <a:off x="5385816" y="1223010"/>
            <a:ext cx="105156" cy="105156"/>
          </a:xfrm>
          <a:prstGeom prst="rect">
            <a:avLst/>
          </a:prstGeom>
          <a:solidFill>
            <a:srgbClr val="FFFFFF"/>
          </a:solidFill>
          <a:ln w="9525">
            <a:solidFill>
              <a:srgbClr val="AAAAAA"/>
            </a:solidFill>
            <a:prstDash val="solid"/>
          </a:ln>
        </p:spPr>
      </p:sp>
      <p:sp>
        <p:nvSpPr>
          <p:cNvPr id="40" name="Text 37"/>
          <p:cNvSpPr/>
          <p:nvPr/>
        </p:nvSpPr>
        <p:spPr>
          <a:xfrm>
            <a:off x="5522976" y="1046988"/>
            <a:ext cx="201168"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70+</a:t>
            </a:r>
            <a:endParaRPr lang="en-US" sz="650" dirty="0"/>
          </a:p>
        </p:txBody>
      </p:sp>
      <p:sp>
        <p:nvSpPr>
          <p:cNvPr id="41" name="Shape 38"/>
          <p:cNvSpPr/>
          <p:nvPr/>
        </p:nvSpPr>
        <p:spPr>
          <a:xfrm>
            <a:off x="5751576" y="1223010"/>
            <a:ext cx="105156" cy="105156"/>
          </a:xfrm>
          <a:prstGeom prst="rect">
            <a:avLst/>
          </a:prstGeom>
          <a:solidFill>
            <a:srgbClr val="B5CC00"/>
          </a:solidFill>
          <a:ln w="9525">
            <a:solidFill>
              <a:srgbClr val="B5CC00"/>
            </a:solidFill>
            <a:prstDash val="solid"/>
          </a:ln>
        </p:spPr>
      </p:sp>
      <p:sp>
        <p:nvSpPr>
          <p:cNvPr id="42" name="Text 39"/>
          <p:cNvSpPr/>
          <p:nvPr/>
        </p:nvSpPr>
        <p:spPr>
          <a:xfrm>
            <a:off x="5751576" y="1213866"/>
            <a:ext cx="105156" cy="105156"/>
          </a:xfrm>
          <a:prstGeom prst="rect">
            <a:avLst/>
          </a:prstGeom>
          <a:noFill/>
          <a:ln/>
        </p:spPr>
        <p:txBody>
          <a:bodyPr wrap="square" lIns="0" tIns="0" rIns="0" bIns="0" rtlCol="0" anchor="ctr"/>
          <a:lstStyle/>
          <a:p>
            <a:pPr algn="ctr" indent="0" marL="0">
              <a:buNone/>
            </a:pPr>
            <a:r>
              <a:rPr lang="en-US" sz="650" b="1" dirty="0">
                <a:solidFill>
                  <a:srgbClr val="3D3D3D"/>
                </a:solidFill>
                <a:latin typeface="Calibri" pitchFamily="34" charset="0"/>
                <a:ea typeface="Calibri" pitchFamily="34" charset="-122"/>
                <a:cs typeface="Calibri" pitchFamily="34" charset="-120"/>
              </a:rPr>
              <a:t>✓</a:t>
            </a:r>
            <a:endParaRPr lang="en-US" sz="650" dirty="0"/>
          </a:p>
        </p:txBody>
      </p:sp>
      <p:sp>
        <p:nvSpPr>
          <p:cNvPr id="43" name="Text 40"/>
          <p:cNvSpPr/>
          <p:nvPr/>
        </p:nvSpPr>
        <p:spPr>
          <a:xfrm>
            <a:off x="5888736" y="1046988"/>
            <a:ext cx="201168"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80+</a:t>
            </a:r>
            <a:endParaRPr lang="en-US" sz="650" dirty="0"/>
          </a:p>
        </p:txBody>
      </p:sp>
      <p:sp>
        <p:nvSpPr>
          <p:cNvPr id="44" name="Shape 41"/>
          <p:cNvSpPr/>
          <p:nvPr/>
        </p:nvSpPr>
        <p:spPr>
          <a:xfrm>
            <a:off x="6117336" y="1223010"/>
            <a:ext cx="105156" cy="105156"/>
          </a:xfrm>
          <a:prstGeom prst="rect">
            <a:avLst/>
          </a:prstGeom>
          <a:solidFill>
            <a:srgbClr val="FFFFFF"/>
          </a:solidFill>
          <a:ln w="9525">
            <a:solidFill>
              <a:srgbClr val="AAAAAA"/>
            </a:solidFill>
            <a:prstDash val="solid"/>
          </a:ln>
        </p:spPr>
      </p:sp>
      <p:sp>
        <p:nvSpPr>
          <p:cNvPr id="45" name="Text 42"/>
          <p:cNvSpPr/>
          <p:nvPr/>
        </p:nvSpPr>
        <p:spPr>
          <a:xfrm>
            <a:off x="6254496" y="1046988"/>
            <a:ext cx="201168"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90+</a:t>
            </a:r>
            <a:endParaRPr lang="en-US" sz="650" dirty="0"/>
          </a:p>
        </p:txBody>
      </p:sp>
      <p:sp>
        <p:nvSpPr>
          <p:cNvPr id="46" name="Shape 43"/>
          <p:cNvSpPr/>
          <p:nvPr/>
        </p:nvSpPr>
        <p:spPr>
          <a:xfrm>
            <a:off x="6510528" y="1110996"/>
            <a:ext cx="0" cy="329184"/>
          </a:xfrm>
          <a:prstGeom prst="line">
            <a:avLst/>
          </a:prstGeom>
          <a:noFill/>
          <a:ln w="6350">
            <a:solidFill>
              <a:srgbClr val="C8C8C8"/>
            </a:solidFill>
            <a:prstDash val="solid"/>
          </a:ln>
        </p:spPr>
      </p:sp>
      <p:sp>
        <p:nvSpPr>
          <p:cNvPr id="47" name="Text 44"/>
          <p:cNvSpPr/>
          <p:nvPr/>
        </p:nvSpPr>
        <p:spPr>
          <a:xfrm>
            <a:off x="6592824" y="1046988"/>
            <a:ext cx="292608" cy="457200"/>
          </a:xfrm>
          <a:prstGeom prst="rect">
            <a:avLst/>
          </a:prstGeom>
          <a:noFill/>
          <a:ln/>
        </p:spPr>
        <p:txBody>
          <a:bodyPr wrap="square" lIns="0" tIns="0" rIns="0" bIns="0" rtlCol="0" anchor="ctr"/>
          <a:lstStyle/>
          <a:p>
            <a:pPr indent="0" marL="0">
              <a:buNone/>
            </a:pPr>
            <a:r>
              <a:rPr lang="en-US" sz="600" b="1" dirty="0">
                <a:solidFill>
                  <a:srgbClr val="6B6B6B"/>
                </a:solidFill>
                <a:latin typeface="Calibri" pitchFamily="34" charset="0"/>
                <a:ea typeface="Calibri" pitchFamily="34" charset="-122"/>
                <a:cs typeface="Calibri" pitchFamily="34" charset="-120"/>
              </a:rPr>
              <a:t>GRAD.</a:t>
            </a:r>
            <a:endParaRPr lang="en-US" sz="600" dirty="0"/>
          </a:p>
        </p:txBody>
      </p:sp>
      <p:sp>
        <p:nvSpPr>
          <p:cNvPr id="48" name="Shape 45"/>
          <p:cNvSpPr/>
          <p:nvPr/>
        </p:nvSpPr>
        <p:spPr>
          <a:xfrm>
            <a:off x="6885432" y="1223010"/>
            <a:ext cx="105156" cy="105156"/>
          </a:xfrm>
          <a:prstGeom prst="rect">
            <a:avLst/>
          </a:prstGeom>
          <a:solidFill>
            <a:srgbClr val="B5CC00"/>
          </a:solidFill>
          <a:ln w="9525">
            <a:solidFill>
              <a:srgbClr val="B5CC00"/>
            </a:solidFill>
            <a:prstDash val="solid"/>
          </a:ln>
        </p:spPr>
      </p:sp>
      <p:sp>
        <p:nvSpPr>
          <p:cNvPr id="49" name="Text 46"/>
          <p:cNvSpPr/>
          <p:nvPr/>
        </p:nvSpPr>
        <p:spPr>
          <a:xfrm>
            <a:off x="6885432" y="1213866"/>
            <a:ext cx="105156" cy="105156"/>
          </a:xfrm>
          <a:prstGeom prst="rect">
            <a:avLst/>
          </a:prstGeom>
          <a:noFill/>
          <a:ln/>
        </p:spPr>
        <p:txBody>
          <a:bodyPr wrap="square" lIns="0" tIns="0" rIns="0" bIns="0" rtlCol="0" anchor="ctr"/>
          <a:lstStyle/>
          <a:p>
            <a:pPr algn="ctr" indent="0" marL="0">
              <a:buNone/>
            </a:pPr>
            <a:r>
              <a:rPr lang="en-US" sz="650" b="1" dirty="0">
                <a:solidFill>
                  <a:srgbClr val="3D3D3D"/>
                </a:solidFill>
                <a:latin typeface="Calibri" pitchFamily="34" charset="0"/>
                <a:ea typeface="Calibri" pitchFamily="34" charset="-122"/>
                <a:cs typeface="Calibri" pitchFamily="34" charset="-120"/>
              </a:rPr>
              <a:t>✓</a:t>
            </a:r>
            <a:endParaRPr lang="en-US" sz="650" dirty="0"/>
          </a:p>
        </p:txBody>
      </p:sp>
      <p:sp>
        <p:nvSpPr>
          <p:cNvPr id="50" name="Text 47"/>
          <p:cNvSpPr/>
          <p:nvPr/>
        </p:nvSpPr>
        <p:spPr>
          <a:xfrm>
            <a:off x="7022592" y="1046988"/>
            <a:ext cx="219456"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DALI</a:t>
            </a:r>
            <a:endParaRPr lang="en-US" sz="650" dirty="0"/>
          </a:p>
        </p:txBody>
      </p:sp>
      <p:sp>
        <p:nvSpPr>
          <p:cNvPr id="51" name="Shape 48"/>
          <p:cNvSpPr/>
          <p:nvPr/>
        </p:nvSpPr>
        <p:spPr>
          <a:xfrm>
            <a:off x="7269480" y="1223010"/>
            <a:ext cx="105156" cy="105156"/>
          </a:xfrm>
          <a:prstGeom prst="rect">
            <a:avLst/>
          </a:prstGeom>
          <a:solidFill>
            <a:srgbClr val="FFFFFF"/>
          </a:solidFill>
          <a:ln w="9525">
            <a:solidFill>
              <a:srgbClr val="AAAAAA"/>
            </a:solidFill>
            <a:prstDash val="solid"/>
          </a:ln>
        </p:spPr>
      </p:sp>
      <p:sp>
        <p:nvSpPr>
          <p:cNvPr id="52" name="Text 49"/>
          <p:cNvSpPr/>
          <p:nvPr/>
        </p:nvSpPr>
        <p:spPr>
          <a:xfrm>
            <a:off x="7406640" y="1046988"/>
            <a:ext cx="182880"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DSI</a:t>
            </a:r>
            <a:endParaRPr lang="en-US" sz="650" dirty="0"/>
          </a:p>
        </p:txBody>
      </p:sp>
      <p:sp>
        <p:nvSpPr>
          <p:cNvPr id="53" name="Shape 50"/>
          <p:cNvSpPr/>
          <p:nvPr/>
        </p:nvSpPr>
        <p:spPr>
          <a:xfrm>
            <a:off x="7616952" y="1223010"/>
            <a:ext cx="105156" cy="105156"/>
          </a:xfrm>
          <a:prstGeom prst="rect">
            <a:avLst/>
          </a:prstGeom>
          <a:solidFill>
            <a:srgbClr val="FFFFFF"/>
          </a:solidFill>
          <a:ln w="9525">
            <a:solidFill>
              <a:srgbClr val="AAAAAA"/>
            </a:solidFill>
            <a:prstDash val="solid"/>
          </a:ln>
        </p:spPr>
      </p:sp>
      <p:sp>
        <p:nvSpPr>
          <p:cNvPr id="54" name="Text 51"/>
          <p:cNvSpPr/>
          <p:nvPr/>
        </p:nvSpPr>
        <p:spPr>
          <a:xfrm>
            <a:off x="7754112" y="1046988"/>
            <a:ext cx="256032"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1-10V</a:t>
            </a:r>
            <a:endParaRPr lang="en-US" sz="650" dirty="0"/>
          </a:p>
        </p:txBody>
      </p:sp>
      <p:sp>
        <p:nvSpPr>
          <p:cNvPr id="55" name="Shape 52"/>
          <p:cNvSpPr/>
          <p:nvPr/>
        </p:nvSpPr>
        <p:spPr>
          <a:xfrm>
            <a:off x="8037576" y="1223010"/>
            <a:ext cx="105156" cy="105156"/>
          </a:xfrm>
          <a:prstGeom prst="rect">
            <a:avLst/>
          </a:prstGeom>
          <a:solidFill>
            <a:srgbClr val="FFFFFF"/>
          </a:solidFill>
          <a:ln w="9525">
            <a:solidFill>
              <a:srgbClr val="AAAAAA"/>
            </a:solidFill>
            <a:prstDash val="solid"/>
          </a:ln>
        </p:spPr>
      </p:sp>
      <p:sp>
        <p:nvSpPr>
          <p:cNvPr id="56" name="Text 53"/>
          <p:cNvSpPr/>
          <p:nvPr/>
        </p:nvSpPr>
        <p:spPr>
          <a:xfrm>
            <a:off x="8174736" y="1046988"/>
            <a:ext cx="256032"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0-10V</a:t>
            </a:r>
            <a:endParaRPr lang="en-US" sz="650" dirty="0"/>
          </a:p>
        </p:txBody>
      </p:sp>
      <p:sp>
        <p:nvSpPr>
          <p:cNvPr id="57" name="Shape 54"/>
          <p:cNvSpPr/>
          <p:nvPr/>
        </p:nvSpPr>
        <p:spPr>
          <a:xfrm>
            <a:off x="8458200" y="1223010"/>
            <a:ext cx="105156" cy="105156"/>
          </a:xfrm>
          <a:prstGeom prst="rect">
            <a:avLst/>
          </a:prstGeom>
          <a:solidFill>
            <a:srgbClr val="FFFFFF"/>
          </a:solidFill>
          <a:ln w="9525">
            <a:solidFill>
              <a:srgbClr val="AAAAAA"/>
            </a:solidFill>
            <a:prstDash val="solid"/>
          </a:ln>
        </p:spPr>
      </p:sp>
      <p:sp>
        <p:nvSpPr>
          <p:cNvPr id="58" name="Text 55"/>
          <p:cNvSpPr/>
          <p:nvPr/>
        </p:nvSpPr>
        <p:spPr>
          <a:xfrm>
            <a:off x="8595360" y="1046988"/>
            <a:ext cx="219456"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Triac</a:t>
            </a:r>
            <a:endParaRPr lang="en-US" sz="650" dirty="0"/>
          </a:p>
        </p:txBody>
      </p:sp>
      <p:sp>
        <p:nvSpPr>
          <p:cNvPr id="59" name="Shape 56"/>
          <p:cNvSpPr/>
          <p:nvPr/>
        </p:nvSpPr>
        <p:spPr>
          <a:xfrm>
            <a:off x="8869680" y="1110996"/>
            <a:ext cx="0" cy="329184"/>
          </a:xfrm>
          <a:prstGeom prst="line">
            <a:avLst/>
          </a:prstGeom>
          <a:noFill/>
          <a:ln w="6350">
            <a:solidFill>
              <a:srgbClr val="C8C8C8"/>
            </a:solidFill>
            <a:prstDash val="solid"/>
          </a:ln>
        </p:spPr>
      </p:sp>
      <p:sp>
        <p:nvSpPr>
          <p:cNvPr id="60" name="Shape 57"/>
          <p:cNvSpPr/>
          <p:nvPr/>
        </p:nvSpPr>
        <p:spPr>
          <a:xfrm>
            <a:off x="8951976" y="1223010"/>
            <a:ext cx="105156" cy="105156"/>
          </a:xfrm>
          <a:prstGeom prst="rect">
            <a:avLst/>
          </a:prstGeom>
          <a:solidFill>
            <a:srgbClr val="FFFFFF"/>
          </a:solidFill>
          <a:ln w="9525">
            <a:solidFill>
              <a:srgbClr val="AAAAAA"/>
            </a:solidFill>
            <a:prstDash val="solid"/>
          </a:ln>
        </p:spPr>
      </p:sp>
      <p:sp>
        <p:nvSpPr>
          <p:cNvPr id="61" name="Text 58"/>
          <p:cNvSpPr/>
          <p:nvPr/>
        </p:nvSpPr>
        <p:spPr>
          <a:xfrm>
            <a:off x="9089136" y="1046988"/>
            <a:ext cx="237744"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ATEX</a:t>
            </a:r>
            <a:endParaRPr lang="en-US" sz="650" dirty="0"/>
          </a:p>
        </p:txBody>
      </p:sp>
      <p:sp>
        <p:nvSpPr>
          <p:cNvPr id="62" name="Shape 59"/>
          <p:cNvSpPr/>
          <p:nvPr/>
        </p:nvSpPr>
        <p:spPr>
          <a:xfrm>
            <a:off x="9354312" y="1223010"/>
            <a:ext cx="105156" cy="105156"/>
          </a:xfrm>
          <a:prstGeom prst="rect">
            <a:avLst/>
          </a:prstGeom>
          <a:solidFill>
            <a:srgbClr val="FFFFFF"/>
          </a:solidFill>
          <a:ln w="9525">
            <a:solidFill>
              <a:srgbClr val="AAAAAA"/>
            </a:solidFill>
            <a:prstDash val="solid"/>
          </a:ln>
        </p:spPr>
      </p:sp>
      <p:sp>
        <p:nvSpPr>
          <p:cNvPr id="63" name="Text 60"/>
          <p:cNvSpPr/>
          <p:nvPr/>
        </p:nvSpPr>
        <p:spPr>
          <a:xfrm>
            <a:off x="9491472" y="1046988"/>
            <a:ext cx="146304"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NF</a:t>
            </a:r>
            <a:endParaRPr lang="en-US" sz="650" dirty="0"/>
          </a:p>
        </p:txBody>
      </p:sp>
      <p:sp>
        <p:nvSpPr>
          <p:cNvPr id="64" name="Shape 61"/>
          <p:cNvSpPr/>
          <p:nvPr/>
        </p:nvSpPr>
        <p:spPr>
          <a:xfrm>
            <a:off x="9665208" y="1223010"/>
            <a:ext cx="105156" cy="105156"/>
          </a:xfrm>
          <a:prstGeom prst="rect">
            <a:avLst/>
          </a:prstGeom>
          <a:solidFill>
            <a:srgbClr val="B5CC00"/>
          </a:solidFill>
          <a:ln w="9525">
            <a:solidFill>
              <a:srgbClr val="B5CC00"/>
            </a:solidFill>
            <a:prstDash val="solid"/>
          </a:ln>
        </p:spPr>
      </p:sp>
      <p:sp>
        <p:nvSpPr>
          <p:cNvPr id="65" name="Text 62"/>
          <p:cNvSpPr/>
          <p:nvPr/>
        </p:nvSpPr>
        <p:spPr>
          <a:xfrm>
            <a:off x="9665208" y="1213866"/>
            <a:ext cx="105156" cy="105156"/>
          </a:xfrm>
          <a:prstGeom prst="rect">
            <a:avLst/>
          </a:prstGeom>
          <a:noFill/>
          <a:ln/>
        </p:spPr>
        <p:txBody>
          <a:bodyPr wrap="square" lIns="0" tIns="0" rIns="0" bIns="0" rtlCol="0" anchor="ctr"/>
          <a:lstStyle/>
          <a:p>
            <a:pPr algn="ctr" indent="0" marL="0">
              <a:buNone/>
            </a:pPr>
            <a:r>
              <a:rPr lang="en-US" sz="650" b="1" dirty="0">
                <a:solidFill>
                  <a:srgbClr val="3D3D3D"/>
                </a:solidFill>
                <a:latin typeface="Calibri" pitchFamily="34" charset="0"/>
                <a:ea typeface="Calibri" pitchFamily="34" charset="-122"/>
                <a:cs typeface="Calibri" pitchFamily="34" charset="-120"/>
              </a:rPr>
              <a:t>✓</a:t>
            </a:r>
            <a:endParaRPr lang="en-US" sz="650" dirty="0"/>
          </a:p>
        </p:txBody>
      </p:sp>
      <p:sp>
        <p:nvSpPr>
          <p:cNvPr id="66" name="Text 63"/>
          <p:cNvSpPr/>
          <p:nvPr/>
        </p:nvSpPr>
        <p:spPr>
          <a:xfrm>
            <a:off x="9802368" y="1046988"/>
            <a:ext cx="320040" cy="457200"/>
          </a:xfrm>
          <a:prstGeom prst="rect">
            <a:avLst/>
          </a:prstGeom>
          <a:noFill/>
          <a:ln/>
        </p:spPr>
        <p:txBody>
          <a:bodyPr wrap="square" lIns="0" tIns="0" rIns="0" bIns="0" rtlCol="0" anchor="ctr"/>
          <a:lstStyle/>
          <a:p>
            <a:pPr indent="0" marL="0">
              <a:buNone/>
            </a:pPr>
            <a:r>
              <a:rPr lang="en-US" sz="650" dirty="0">
                <a:solidFill>
                  <a:srgbClr val="3D3D3D"/>
                </a:solidFill>
                <a:latin typeface="Calibri" pitchFamily="34" charset="0"/>
                <a:ea typeface="Calibri" pitchFamily="34" charset="-122"/>
                <a:cs typeface="Calibri" pitchFamily="34" charset="-120"/>
              </a:rPr>
              <a:t>Fab. EU</a:t>
            </a:r>
            <a:endParaRPr lang="en-US" sz="650" dirty="0"/>
          </a:p>
        </p:txBody>
      </p:sp>
      <p:sp>
        <p:nvSpPr>
          <p:cNvPr id="67" name="Shape 64"/>
          <p:cNvSpPr/>
          <p:nvPr/>
        </p:nvSpPr>
        <p:spPr>
          <a:xfrm>
            <a:off x="8641080" y="1577340"/>
            <a:ext cx="0" cy="6140196"/>
          </a:xfrm>
          <a:prstGeom prst="line">
            <a:avLst/>
          </a:prstGeom>
          <a:noFill/>
          <a:ln w="9525">
            <a:solidFill>
              <a:srgbClr val="E6E6E6"/>
            </a:solidFill>
            <a:prstDash val="solid"/>
          </a:ln>
        </p:spPr>
      </p:sp>
      <p:sp>
        <p:nvSpPr>
          <p:cNvPr id="68" name="Text 65"/>
          <p:cNvSpPr/>
          <p:nvPr/>
        </p:nvSpPr>
        <p:spPr>
          <a:xfrm>
            <a:off x="201168" y="1641348"/>
            <a:ext cx="8302752" cy="420624"/>
          </a:xfrm>
          <a:prstGeom prst="rect">
            <a:avLst/>
          </a:prstGeom>
          <a:noFill/>
          <a:ln/>
        </p:spPr>
        <p:txBody>
          <a:bodyPr wrap="square" lIns="0" tIns="0" rIns="0" bIns="0" rtlCol="0" anchor="t"/>
          <a:lstStyle/>
          <a:p>
            <a:pPr indent="0" marL="0">
              <a:buNone/>
            </a:pPr>
            <a:r>
              <a:rPr lang="en-US" sz="900" dirty="0">
                <a:solidFill>
                  <a:srgbClr val="3D3D3D"/>
                </a:solidFill>
                <a:latin typeface="Calibri" pitchFamily="34" charset="0"/>
                <a:ea typeface="Calibri" pitchFamily="34" charset="-122"/>
                <a:cs typeface="Calibri" pitchFamily="34" charset="-120"/>
              </a:rPr>
              <a:t>Éclairage LED conçu pour les locaux présentant un risque d'explosion. Utilisable dans des zones de type environnement agressif, où le remplacement des sources lumineuses est difficile et coûteux. Fabriqué en Europe.</a:t>
            </a:r>
            <a:endParaRPr lang="en-US" sz="900" dirty="0"/>
          </a:p>
        </p:txBody>
      </p:sp>
      <p:sp>
        <p:nvSpPr>
          <p:cNvPr id="69" name="Shape 66"/>
          <p:cNvSpPr/>
          <p:nvPr/>
        </p:nvSpPr>
        <p:spPr>
          <a:xfrm>
            <a:off x="201168" y="2144268"/>
            <a:ext cx="8302752" cy="201168"/>
          </a:xfrm>
          <a:prstGeom prst="rect">
            <a:avLst/>
          </a:prstGeom>
          <a:solidFill>
            <a:srgbClr val="3D3D3D"/>
          </a:solidFill>
          <a:ln w="12700">
            <a:solidFill>
              <a:srgbClr val="3D3D3D"/>
            </a:solidFill>
            <a:prstDash val="solid"/>
          </a:ln>
        </p:spPr>
      </p:sp>
      <p:sp>
        <p:nvSpPr>
          <p:cNvPr id="70" name="Shape 67"/>
          <p:cNvSpPr/>
          <p:nvPr/>
        </p:nvSpPr>
        <p:spPr>
          <a:xfrm>
            <a:off x="201168" y="2144268"/>
            <a:ext cx="50292" cy="201168"/>
          </a:xfrm>
          <a:prstGeom prst="rect">
            <a:avLst/>
          </a:prstGeom>
          <a:solidFill>
            <a:srgbClr val="B5CC00"/>
          </a:solidFill>
          <a:ln w="12700">
            <a:solidFill>
              <a:srgbClr val="B5CC00"/>
            </a:solidFill>
            <a:prstDash val="solid"/>
          </a:ln>
        </p:spPr>
      </p:sp>
      <p:sp>
        <p:nvSpPr>
          <p:cNvPr id="71" name="Text 68"/>
          <p:cNvSpPr/>
          <p:nvPr/>
        </p:nvSpPr>
        <p:spPr>
          <a:xfrm>
            <a:off x="292608" y="2144268"/>
            <a:ext cx="8193024" cy="201168"/>
          </a:xfrm>
          <a:prstGeom prst="rect">
            <a:avLst/>
          </a:prstGeom>
          <a:noFill/>
          <a:ln/>
        </p:spPr>
        <p:txBody>
          <a:bodyPr wrap="square" lIns="0" tIns="0" rIns="0" bIns="0" rtlCol="0" anchor="ctr"/>
          <a:lstStyle/>
          <a:p>
            <a:pPr indent="0" marL="0">
              <a:buNone/>
            </a:pPr>
            <a:r>
              <a:rPr lang="en-US" sz="750" b="1" spc="150" kern="0" dirty="0">
                <a:solidFill>
                  <a:srgbClr val="FFFFFF"/>
                </a:solidFill>
                <a:latin typeface="Calibri" pitchFamily="34" charset="0"/>
                <a:ea typeface="Calibri" pitchFamily="34" charset="-122"/>
                <a:cs typeface="Calibri" pitchFamily="34" charset="-120"/>
              </a:rPr>
              <a:t>CARACTÉRISTIQUES TECHNIQUES</a:t>
            </a:r>
            <a:endParaRPr lang="en-US" sz="750" dirty="0"/>
          </a:p>
        </p:txBody>
      </p:sp>
      <p:sp>
        <p:nvSpPr>
          <p:cNvPr id="72" name="Shape 69"/>
          <p:cNvSpPr/>
          <p:nvPr/>
        </p:nvSpPr>
        <p:spPr>
          <a:xfrm>
            <a:off x="210312" y="2432304"/>
            <a:ext cx="53035" cy="53035"/>
          </a:xfrm>
          <a:prstGeom prst="ellipse">
            <a:avLst/>
          </a:prstGeom>
          <a:solidFill>
            <a:srgbClr val="B5CC00"/>
          </a:solidFill>
          <a:ln w="12700">
            <a:solidFill>
              <a:srgbClr val="B5CC00"/>
            </a:solidFill>
            <a:prstDash val="solid"/>
          </a:ln>
        </p:spPr>
      </p:sp>
      <p:sp>
        <p:nvSpPr>
          <p:cNvPr id="73" name="Text 70"/>
          <p:cNvSpPr/>
          <p:nvPr/>
        </p:nvSpPr>
        <p:spPr>
          <a:xfrm>
            <a:off x="278892" y="2404872"/>
            <a:ext cx="1371600" cy="287122"/>
          </a:xfrm>
          <a:prstGeom prst="rect">
            <a:avLst/>
          </a:prstGeom>
          <a:noFill/>
          <a:ln/>
        </p:spPr>
        <p:txBody>
          <a:bodyPr wrap="square" lIns="0" tIns="0" rIns="0" bIns="0" rtlCol="0" anchor="t"/>
          <a:lstStyle/>
          <a:p>
            <a:pPr indent="0" marL="0">
              <a:buNone/>
            </a:pPr>
            <a:r>
              <a:rPr lang="en-US" sz="850" b="1" dirty="0">
                <a:solidFill>
                  <a:srgbClr val="3D3D3D"/>
                </a:solidFill>
                <a:latin typeface="Calibri" pitchFamily="34" charset="0"/>
                <a:ea typeface="Calibri" pitchFamily="34" charset="-122"/>
                <a:cs typeface="Calibri" pitchFamily="34" charset="-120"/>
              </a:rPr>
              <a:t>Matériau :</a:t>
            </a:r>
            <a:endParaRPr lang="en-US" sz="850" dirty="0"/>
          </a:p>
        </p:txBody>
      </p:sp>
      <p:sp>
        <p:nvSpPr>
          <p:cNvPr id="74" name="Text 71"/>
          <p:cNvSpPr/>
          <p:nvPr/>
        </p:nvSpPr>
        <p:spPr>
          <a:xfrm>
            <a:off x="1696212" y="2404872"/>
            <a:ext cx="6803136" cy="287122"/>
          </a:xfrm>
          <a:prstGeom prst="rect">
            <a:avLst/>
          </a:prstGeom>
          <a:noFill/>
          <a:ln/>
        </p:spPr>
        <p:txBody>
          <a:bodyPr wrap="square" lIns="0" tIns="0" rIns="0" bIns="0" rtlCol="0" anchor="t"/>
          <a:lstStyle/>
          <a:p>
            <a:pPr indent="0" marL="0">
              <a:buNone/>
            </a:pPr>
            <a:r>
              <a:rPr lang="en-US" sz="850" dirty="0">
                <a:solidFill>
                  <a:srgbClr val="3D3D3D"/>
                </a:solidFill>
                <a:latin typeface="Calibri" pitchFamily="34" charset="0"/>
                <a:ea typeface="Calibri" pitchFamily="34" charset="-122"/>
                <a:cs typeface="Calibri" pitchFamily="34" charset="-120"/>
              </a:rPr>
              <a:t>Tôle d'acier peinte blanc RAL 9003</a:t>
            </a:r>
            <a:endParaRPr lang="en-US" sz="850" dirty="0"/>
          </a:p>
        </p:txBody>
      </p:sp>
      <p:sp>
        <p:nvSpPr>
          <p:cNvPr id="75" name="Shape 72"/>
          <p:cNvSpPr/>
          <p:nvPr/>
        </p:nvSpPr>
        <p:spPr>
          <a:xfrm>
            <a:off x="201168" y="2689250"/>
            <a:ext cx="8302752" cy="0"/>
          </a:xfrm>
          <a:prstGeom prst="line">
            <a:avLst/>
          </a:prstGeom>
          <a:noFill/>
          <a:ln w="6350">
            <a:solidFill>
              <a:srgbClr val="EFEFEF"/>
            </a:solidFill>
            <a:prstDash val="solid"/>
          </a:ln>
        </p:spPr>
      </p:sp>
      <p:sp>
        <p:nvSpPr>
          <p:cNvPr id="76" name="Shape 73"/>
          <p:cNvSpPr/>
          <p:nvPr/>
        </p:nvSpPr>
        <p:spPr>
          <a:xfrm>
            <a:off x="210312" y="2746858"/>
            <a:ext cx="53035" cy="53035"/>
          </a:xfrm>
          <a:prstGeom prst="ellipse">
            <a:avLst/>
          </a:prstGeom>
          <a:solidFill>
            <a:srgbClr val="B5CC00"/>
          </a:solidFill>
          <a:ln w="12700">
            <a:solidFill>
              <a:srgbClr val="B5CC00"/>
            </a:solidFill>
            <a:prstDash val="solid"/>
          </a:ln>
        </p:spPr>
      </p:sp>
      <p:sp>
        <p:nvSpPr>
          <p:cNvPr id="77" name="Text 74"/>
          <p:cNvSpPr/>
          <p:nvPr/>
        </p:nvSpPr>
        <p:spPr>
          <a:xfrm>
            <a:off x="278892" y="2719426"/>
            <a:ext cx="1371600" cy="287122"/>
          </a:xfrm>
          <a:prstGeom prst="rect">
            <a:avLst/>
          </a:prstGeom>
          <a:noFill/>
          <a:ln/>
        </p:spPr>
        <p:txBody>
          <a:bodyPr wrap="square" lIns="0" tIns="0" rIns="0" bIns="0" rtlCol="0" anchor="t"/>
          <a:lstStyle/>
          <a:p>
            <a:pPr indent="0" marL="0">
              <a:buNone/>
            </a:pPr>
            <a:r>
              <a:rPr lang="en-US" sz="850" b="1" dirty="0">
                <a:solidFill>
                  <a:srgbClr val="3D3D3D"/>
                </a:solidFill>
                <a:latin typeface="Calibri" pitchFamily="34" charset="0"/>
                <a:ea typeface="Calibri" pitchFamily="34" charset="-122"/>
                <a:cs typeface="Calibri" pitchFamily="34" charset="-120"/>
              </a:rPr>
              <a:t>Diffuseur :</a:t>
            </a:r>
            <a:endParaRPr lang="en-US" sz="850" dirty="0"/>
          </a:p>
        </p:txBody>
      </p:sp>
      <p:sp>
        <p:nvSpPr>
          <p:cNvPr id="78" name="Text 75"/>
          <p:cNvSpPr/>
          <p:nvPr/>
        </p:nvSpPr>
        <p:spPr>
          <a:xfrm>
            <a:off x="1696212" y="2719426"/>
            <a:ext cx="6803136" cy="287122"/>
          </a:xfrm>
          <a:prstGeom prst="rect">
            <a:avLst/>
          </a:prstGeom>
          <a:noFill/>
          <a:ln/>
        </p:spPr>
        <p:txBody>
          <a:bodyPr wrap="square" lIns="0" tIns="0" rIns="0" bIns="0" rtlCol="0" anchor="t"/>
          <a:lstStyle/>
          <a:p>
            <a:pPr indent="0" marL="0">
              <a:buNone/>
            </a:pPr>
            <a:r>
              <a:rPr lang="en-US" sz="850" dirty="0">
                <a:solidFill>
                  <a:srgbClr val="3D3D3D"/>
                </a:solidFill>
                <a:latin typeface="Calibri" pitchFamily="34" charset="0"/>
                <a:ea typeface="Calibri" pitchFamily="34" charset="-122"/>
                <a:cs typeface="Calibri" pitchFamily="34" charset="-120"/>
              </a:rPr>
              <a:t>Verre de sécurité trempé clair ou mat</a:t>
            </a:r>
            <a:endParaRPr lang="en-US" sz="850" dirty="0"/>
          </a:p>
        </p:txBody>
      </p:sp>
      <p:sp>
        <p:nvSpPr>
          <p:cNvPr id="79" name="Shape 76"/>
          <p:cNvSpPr/>
          <p:nvPr/>
        </p:nvSpPr>
        <p:spPr>
          <a:xfrm>
            <a:off x="201168" y="3003804"/>
            <a:ext cx="8302752" cy="0"/>
          </a:xfrm>
          <a:prstGeom prst="line">
            <a:avLst/>
          </a:prstGeom>
          <a:noFill/>
          <a:ln w="6350">
            <a:solidFill>
              <a:srgbClr val="EFEFEF"/>
            </a:solidFill>
            <a:prstDash val="solid"/>
          </a:ln>
        </p:spPr>
      </p:sp>
      <p:sp>
        <p:nvSpPr>
          <p:cNvPr id="80" name="Shape 77"/>
          <p:cNvSpPr/>
          <p:nvPr/>
        </p:nvSpPr>
        <p:spPr>
          <a:xfrm>
            <a:off x="210312" y="3061411"/>
            <a:ext cx="53035" cy="53035"/>
          </a:xfrm>
          <a:prstGeom prst="ellipse">
            <a:avLst/>
          </a:prstGeom>
          <a:solidFill>
            <a:srgbClr val="B5CC00"/>
          </a:solidFill>
          <a:ln w="12700">
            <a:solidFill>
              <a:srgbClr val="B5CC00"/>
            </a:solidFill>
            <a:prstDash val="solid"/>
          </a:ln>
        </p:spPr>
      </p:sp>
      <p:sp>
        <p:nvSpPr>
          <p:cNvPr id="81" name="Text 78"/>
          <p:cNvSpPr/>
          <p:nvPr/>
        </p:nvSpPr>
        <p:spPr>
          <a:xfrm>
            <a:off x="278892" y="3033979"/>
            <a:ext cx="1371600" cy="287122"/>
          </a:xfrm>
          <a:prstGeom prst="rect">
            <a:avLst/>
          </a:prstGeom>
          <a:noFill/>
          <a:ln/>
        </p:spPr>
        <p:txBody>
          <a:bodyPr wrap="square" lIns="0" tIns="0" rIns="0" bIns="0" rtlCol="0" anchor="t"/>
          <a:lstStyle/>
          <a:p>
            <a:pPr indent="0" marL="0">
              <a:buNone/>
            </a:pPr>
            <a:r>
              <a:rPr lang="en-US" sz="850" b="1" dirty="0">
                <a:solidFill>
                  <a:srgbClr val="3D3D3D"/>
                </a:solidFill>
                <a:latin typeface="Calibri" pitchFamily="34" charset="0"/>
                <a:ea typeface="Calibri" pitchFamily="34" charset="-122"/>
                <a:cs typeface="Calibri" pitchFamily="34" charset="-120"/>
              </a:rPr>
              <a:t>Raccordement :</a:t>
            </a:r>
            <a:endParaRPr lang="en-US" sz="850" dirty="0"/>
          </a:p>
        </p:txBody>
      </p:sp>
      <p:sp>
        <p:nvSpPr>
          <p:cNvPr id="82" name="Text 79"/>
          <p:cNvSpPr/>
          <p:nvPr/>
        </p:nvSpPr>
        <p:spPr>
          <a:xfrm>
            <a:off x="1696212" y="3033979"/>
            <a:ext cx="6803136" cy="287122"/>
          </a:xfrm>
          <a:prstGeom prst="rect">
            <a:avLst/>
          </a:prstGeom>
          <a:noFill/>
          <a:ln/>
        </p:spPr>
        <p:txBody>
          <a:bodyPr wrap="square" lIns="0" tIns="0" rIns="0" bIns="0" rtlCol="0" anchor="t"/>
          <a:lstStyle/>
          <a:p>
            <a:pPr indent="0" marL="0">
              <a:buNone/>
            </a:pPr>
            <a:r>
              <a:rPr lang="en-US" sz="850" dirty="0">
                <a:solidFill>
                  <a:srgbClr val="3D3D3D"/>
                </a:solidFill>
                <a:latin typeface="Calibri" pitchFamily="34" charset="0"/>
                <a:ea typeface="Calibri" pitchFamily="34" charset="-122"/>
                <a:cs typeface="Calibri" pitchFamily="34" charset="-120"/>
              </a:rPr>
              <a:t>Bornier tripolaire sans vis, fils max Ø 2,5 mm²</a:t>
            </a:r>
            <a:endParaRPr lang="en-US" sz="850" dirty="0"/>
          </a:p>
        </p:txBody>
      </p:sp>
      <p:sp>
        <p:nvSpPr>
          <p:cNvPr id="83" name="Shape 80"/>
          <p:cNvSpPr/>
          <p:nvPr/>
        </p:nvSpPr>
        <p:spPr>
          <a:xfrm>
            <a:off x="201168" y="3318358"/>
            <a:ext cx="8302752" cy="0"/>
          </a:xfrm>
          <a:prstGeom prst="line">
            <a:avLst/>
          </a:prstGeom>
          <a:noFill/>
          <a:ln w="6350">
            <a:solidFill>
              <a:srgbClr val="EFEFEF"/>
            </a:solidFill>
            <a:prstDash val="solid"/>
          </a:ln>
        </p:spPr>
      </p:sp>
      <p:sp>
        <p:nvSpPr>
          <p:cNvPr id="84" name="Shape 81"/>
          <p:cNvSpPr/>
          <p:nvPr/>
        </p:nvSpPr>
        <p:spPr>
          <a:xfrm>
            <a:off x="210312" y="3375965"/>
            <a:ext cx="53035" cy="53035"/>
          </a:xfrm>
          <a:prstGeom prst="ellipse">
            <a:avLst/>
          </a:prstGeom>
          <a:solidFill>
            <a:srgbClr val="B5CC00"/>
          </a:solidFill>
          <a:ln w="12700">
            <a:solidFill>
              <a:srgbClr val="B5CC00"/>
            </a:solidFill>
            <a:prstDash val="solid"/>
          </a:ln>
        </p:spPr>
      </p:sp>
      <p:sp>
        <p:nvSpPr>
          <p:cNvPr id="85" name="Text 82"/>
          <p:cNvSpPr/>
          <p:nvPr/>
        </p:nvSpPr>
        <p:spPr>
          <a:xfrm>
            <a:off x="278892" y="3348533"/>
            <a:ext cx="1371600" cy="287122"/>
          </a:xfrm>
          <a:prstGeom prst="rect">
            <a:avLst/>
          </a:prstGeom>
          <a:noFill/>
          <a:ln/>
        </p:spPr>
        <p:txBody>
          <a:bodyPr wrap="square" lIns="0" tIns="0" rIns="0" bIns="0" rtlCol="0" anchor="t"/>
          <a:lstStyle/>
          <a:p>
            <a:pPr indent="0" marL="0">
              <a:buNone/>
            </a:pPr>
            <a:r>
              <a:rPr lang="en-US" sz="850" b="1" dirty="0">
                <a:solidFill>
                  <a:srgbClr val="3D3D3D"/>
                </a:solidFill>
                <a:latin typeface="Calibri" pitchFamily="34" charset="0"/>
                <a:ea typeface="Calibri" pitchFamily="34" charset="-122"/>
                <a:cs typeface="Calibri" pitchFamily="34" charset="-120"/>
              </a:rPr>
              <a:t>Presse-étoupe :</a:t>
            </a:r>
            <a:endParaRPr lang="en-US" sz="850" dirty="0"/>
          </a:p>
        </p:txBody>
      </p:sp>
      <p:sp>
        <p:nvSpPr>
          <p:cNvPr id="86" name="Text 83"/>
          <p:cNvSpPr/>
          <p:nvPr/>
        </p:nvSpPr>
        <p:spPr>
          <a:xfrm>
            <a:off x="1696212" y="3348533"/>
            <a:ext cx="6803136" cy="287122"/>
          </a:xfrm>
          <a:prstGeom prst="rect">
            <a:avLst/>
          </a:prstGeom>
          <a:noFill/>
          <a:ln/>
        </p:spPr>
        <p:txBody>
          <a:bodyPr wrap="square" lIns="0" tIns="0" rIns="0" bIns="0" rtlCol="0" anchor="t"/>
          <a:lstStyle/>
          <a:p>
            <a:pPr indent="0" marL="0">
              <a:buNone/>
            </a:pPr>
            <a:r>
              <a:rPr lang="en-US" sz="850" dirty="0">
                <a:solidFill>
                  <a:srgbClr val="3D3D3D"/>
                </a:solidFill>
                <a:latin typeface="Calibri" pitchFamily="34" charset="0"/>
                <a:ea typeface="Calibri" pitchFamily="34" charset="-122"/>
                <a:cs typeface="Calibri" pitchFamily="34" charset="-120"/>
              </a:rPr>
              <a:t>Pg 13,5 pour câble Ø 7–12 mm + bouchon d'étanchéité</a:t>
            </a:r>
            <a:endParaRPr lang="en-US" sz="850" dirty="0"/>
          </a:p>
        </p:txBody>
      </p:sp>
      <p:sp>
        <p:nvSpPr>
          <p:cNvPr id="87" name="Shape 84"/>
          <p:cNvSpPr/>
          <p:nvPr/>
        </p:nvSpPr>
        <p:spPr>
          <a:xfrm>
            <a:off x="201168" y="3632911"/>
            <a:ext cx="8302752" cy="0"/>
          </a:xfrm>
          <a:prstGeom prst="line">
            <a:avLst/>
          </a:prstGeom>
          <a:noFill/>
          <a:ln w="6350">
            <a:solidFill>
              <a:srgbClr val="EFEFEF"/>
            </a:solidFill>
            <a:prstDash val="solid"/>
          </a:ln>
        </p:spPr>
      </p:sp>
      <p:sp>
        <p:nvSpPr>
          <p:cNvPr id="88" name="Shape 85"/>
          <p:cNvSpPr/>
          <p:nvPr/>
        </p:nvSpPr>
        <p:spPr>
          <a:xfrm>
            <a:off x="210312" y="3690518"/>
            <a:ext cx="53035" cy="53035"/>
          </a:xfrm>
          <a:prstGeom prst="ellipse">
            <a:avLst/>
          </a:prstGeom>
          <a:solidFill>
            <a:srgbClr val="B5CC00"/>
          </a:solidFill>
          <a:ln w="12700">
            <a:solidFill>
              <a:srgbClr val="B5CC00"/>
            </a:solidFill>
            <a:prstDash val="solid"/>
          </a:ln>
        </p:spPr>
      </p:sp>
      <p:sp>
        <p:nvSpPr>
          <p:cNvPr id="89" name="Text 86"/>
          <p:cNvSpPr/>
          <p:nvPr/>
        </p:nvSpPr>
        <p:spPr>
          <a:xfrm>
            <a:off x="278892" y="3663086"/>
            <a:ext cx="1371600" cy="287122"/>
          </a:xfrm>
          <a:prstGeom prst="rect">
            <a:avLst/>
          </a:prstGeom>
          <a:noFill/>
          <a:ln/>
        </p:spPr>
        <p:txBody>
          <a:bodyPr wrap="square" lIns="0" tIns="0" rIns="0" bIns="0" rtlCol="0" anchor="t"/>
          <a:lstStyle/>
          <a:p>
            <a:pPr indent="0" marL="0">
              <a:buNone/>
            </a:pPr>
            <a:r>
              <a:rPr lang="en-US" sz="850" b="1" dirty="0">
                <a:solidFill>
                  <a:srgbClr val="3D3D3D"/>
                </a:solidFill>
                <a:latin typeface="Calibri" pitchFamily="34" charset="0"/>
                <a:ea typeface="Calibri" pitchFamily="34" charset="-122"/>
                <a:cs typeface="Calibri" pitchFamily="34" charset="-120"/>
              </a:rPr>
              <a:t>Durée de vie :</a:t>
            </a:r>
            <a:endParaRPr lang="en-US" sz="850" dirty="0"/>
          </a:p>
        </p:txBody>
      </p:sp>
      <p:sp>
        <p:nvSpPr>
          <p:cNvPr id="90" name="Text 87"/>
          <p:cNvSpPr/>
          <p:nvPr/>
        </p:nvSpPr>
        <p:spPr>
          <a:xfrm>
            <a:off x="1696212" y="3663086"/>
            <a:ext cx="6803136" cy="287122"/>
          </a:xfrm>
          <a:prstGeom prst="rect">
            <a:avLst/>
          </a:prstGeom>
          <a:noFill/>
          <a:ln/>
        </p:spPr>
        <p:txBody>
          <a:bodyPr wrap="square" lIns="0" tIns="0" rIns="0" bIns="0" rtlCol="0" anchor="t"/>
          <a:lstStyle/>
          <a:p>
            <a:pPr indent="0" marL="0">
              <a:buNone/>
            </a:pPr>
            <a:r>
              <a:rPr lang="en-US" sz="850" dirty="0">
                <a:solidFill>
                  <a:srgbClr val="3D3D3D"/>
                </a:solidFill>
                <a:latin typeface="Calibri" pitchFamily="34" charset="0"/>
                <a:ea typeface="Calibri" pitchFamily="34" charset="-122"/>
                <a:cs typeface="Calibri" pitchFamily="34" charset="-120"/>
              </a:rPr>
              <a:t>L80B10 ta35 — 70 000 h  /  L70B10 ta35 — 100 000 h</a:t>
            </a:r>
            <a:endParaRPr lang="en-US" sz="850" dirty="0"/>
          </a:p>
        </p:txBody>
      </p:sp>
      <p:sp>
        <p:nvSpPr>
          <p:cNvPr id="91" name="Shape 88"/>
          <p:cNvSpPr/>
          <p:nvPr/>
        </p:nvSpPr>
        <p:spPr>
          <a:xfrm>
            <a:off x="201168" y="3947465"/>
            <a:ext cx="8302752" cy="0"/>
          </a:xfrm>
          <a:prstGeom prst="line">
            <a:avLst/>
          </a:prstGeom>
          <a:noFill/>
          <a:ln w="6350">
            <a:solidFill>
              <a:srgbClr val="EFEFEF"/>
            </a:solidFill>
            <a:prstDash val="solid"/>
          </a:ln>
        </p:spPr>
      </p:sp>
      <p:sp>
        <p:nvSpPr>
          <p:cNvPr id="92" name="Shape 89"/>
          <p:cNvSpPr/>
          <p:nvPr/>
        </p:nvSpPr>
        <p:spPr>
          <a:xfrm>
            <a:off x="210312" y="4005072"/>
            <a:ext cx="53035" cy="53035"/>
          </a:xfrm>
          <a:prstGeom prst="ellipse">
            <a:avLst/>
          </a:prstGeom>
          <a:solidFill>
            <a:srgbClr val="B5CC00"/>
          </a:solidFill>
          <a:ln w="12700">
            <a:solidFill>
              <a:srgbClr val="B5CC00"/>
            </a:solidFill>
            <a:prstDash val="solid"/>
          </a:ln>
        </p:spPr>
      </p:sp>
      <p:sp>
        <p:nvSpPr>
          <p:cNvPr id="93" name="Text 90"/>
          <p:cNvSpPr/>
          <p:nvPr/>
        </p:nvSpPr>
        <p:spPr>
          <a:xfrm>
            <a:off x="278892" y="3977640"/>
            <a:ext cx="1371600" cy="287122"/>
          </a:xfrm>
          <a:prstGeom prst="rect">
            <a:avLst/>
          </a:prstGeom>
          <a:noFill/>
          <a:ln/>
        </p:spPr>
        <p:txBody>
          <a:bodyPr wrap="square" lIns="0" tIns="0" rIns="0" bIns="0" rtlCol="0" anchor="t"/>
          <a:lstStyle/>
          <a:p>
            <a:pPr indent="0" marL="0">
              <a:buNone/>
            </a:pPr>
            <a:r>
              <a:rPr lang="en-US" sz="850" b="1" dirty="0">
                <a:solidFill>
                  <a:srgbClr val="3D3D3D"/>
                </a:solidFill>
                <a:latin typeface="Calibri" pitchFamily="34" charset="0"/>
                <a:ea typeface="Calibri" pitchFamily="34" charset="-122"/>
                <a:cs typeface="Calibri" pitchFamily="34" charset="-120"/>
              </a:rPr>
              <a:t>Temp. de couleur :</a:t>
            </a:r>
            <a:endParaRPr lang="en-US" sz="850" dirty="0"/>
          </a:p>
        </p:txBody>
      </p:sp>
      <p:sp>
        <p:nvSpPr>
          <p:cNvPr id="94" name="Text 91"/>
          <p:cNvSpPr/>
          <p:nvPr/>
        </p:nvSpPr>
        <p:spPr>
          <a:xfrm>
            <a:off x="1696212" y="3977640"/>
            <a:ext cx="6803136" cy="287122"/>
          </a:xfrm>
          <a:prstGeom prst="rect">
            <a:avLst/>
          </a:prstGeom>
          <a:noFill/>
          <a:ln/>
        </p:spPr>
        <p:txBody>
          <a:bodyPr wrap="square" lIns="0" tIns="0" rIns="0" bIns="0" rtlCol="0" anchor="t"/>
          <a:lstStyle/>
          <a:p>
            <a:pPr indent="0" marL="0">
              <a:buNone/>
            </a:pPr>
            <a:r>
              <a:rPr lang="en-US" sz="850" dirty="0">
                <a:solidFill>
                  <a:srgbClr val="3D3D3D"/>
                </a:solidFill>
                <a:latin typeface="Calibri" pitchFamily="34" charset="0"/>
                <a:ea typeface="Calibri" pitchFamily="34" charset="-122"/>
                <a:cs typeface="Calibri" pitchFamily="34" charset="-120"/>
              </a:rPr>
              <a:t>4 000 K (blanc neutre)</a:t>
            </a:r>
            <a:endParaRPr lang="en-US" sz="850" dirty="0"/>
          </a:p>
        </p:txBody>
      </p:sp>
      <p:sp>
        <p:nvSpPr>
          <p:cNvPr id="95" name="Shape 92"/>
          <p:cNvSpPr/>
          <p:nvPr/>
        </p:nvSpPr>
        <p:spPr>
          <a:xfrm>
            <a:off x="201168" y="4262018"/>
            <a:ext cx="8302752" cy="0"/>
          </a:xfrm>
          <a:prstGeom prst="line">
            <a:avLst/>
          </a:prstGeom>
          <a:noFill/>
          <a:ln w="6350">
            <a:solidFill>
              <a:srgbClr val="EFEFEF"/>
            </a:solidFill>
            <a:prstDash val="solid"/>
          </a:ln>
        </p:spPr>
      </p:sp>
      <p:sp>
        <p:nvSpPr>
          <p:cNvPr id="96" name="Shape 93"/>
          <p:cNvSpPr/>
          <p:nvPr/>
        </p:nvSpPr>
        <p:spPr>
          <a:xfrm>
            <a:off x="210312" y="4319626"/>
            <a:ext cx="53035" cy="53035"/>
          </a:xfrm>
          <a:prstGeom prst="ellipse">
            <a:avLst/>
          </a:prstGeom>
          <a:solidFill>
            <a:srgbClr val="B5CC00"/>
          </a:solidFill>
          <a:ln w="12700">
            <a:solidFill>
              <a:srgbClr val="B5CC00"/>
            </a:solidFill>
            <a:prstDash val="solid"/>
          </a:ln>
        </p:spPr>
      </p:sp>
      <p:sp>
        <p:nvSpPr>
          <p:cNvPr id="97" name="Text 94"/>
          <p:cNvSpPr/>
          <p:nvPr/>
        </p:nvSpPr>
        <p:spPr>
          <a:xfrm>
            <a:off x="278892" y="4292194"/>
            <a:ext cx="1371600" cy="287122"/>
          </a:xfrm>
          <a:prstGeom prst="rect">
            <a:avLst/>
          </a:prstGeom>
          <a:noFill/>
          <a:ln/>
        </p:spPr>
        <p:txBody>
          <a:bodyPr wrap="square" lIns="0" tIns="0" rIns="0" bIns="0" rtlCol="0" anchor="t"/>
          <a:lstStyle/>
          <a:p>
            <a:pPr indent="0" marL="0">
              <a:buNone/>
            </a:pPr>
            <a:r>
              <a:rPr lang="en-US" sz="850" b="1" dirty="0">
                <a:solidFill>
                  <a:srgbClr val="3D3D3D"/>
                </a:solidFill>
                <a:latin typeface="Calibri" pitchFamily="34" charset="0"/>
                <a:ea typeface="Calibri" pitchFamily="34" charset="-122"/>
                <a:cs typeface="Calibri" pitchFamily="34" charset="-120"/>
              </a:rPr>
              <a:t>IRC :</a:t>
            </a:r>
            <a:endParaRPr lang="en-US" sz="850" dirty="0"/>
          </a:p>
        </p:txBody>
      </p:sp>
      <p:sp>
        <p:nvSpPr>
          <p:cNvPr id="98" name="Text 95"/>
          <p:cNvSpPr/>
          <p:nvPr/>
        </p:nvSpPr>
        <p:spPr>
          <a:xfrm>
            <a:off x="1696212" y="4292194"/>
            <a:ext cx="6803136" cy="287122"/>
          </a:xfrm>
          <a:prstGeom prst="rect">
            <a:avLst/>
          </a:prstGeom>
          <a:noFill/>
          <a:ln/>
        </p:spPr>
        <p:txBody>
          <a:bodyPr wrap="square" lIns="0" tIns="0" rIns="0" bIns="0" rtlCol="0" anchor="t"/>
          <a:lstStyle/>
          <a:p>
            <a:pPr indent="0" marL="0">
              <a:buNone/>
            </a:pPr>
            <a:r>
              <a:rPr lang="en-US" sz="850" dirty="0">
                <a:solidFill>
                  <a:srgbClr val="3D3D3D"/>
                </a:solidFill>
                <a:latin typeface="Calibri" pitchFamily="34" charset="0"/>
                <a:ea typeface="Calibri" pitchFamily="34" charset="-122"/>
                <a:cs typeface="Calibri" pitchFamily="34" charset="-120"/>
              </a:rPr>
              <a:t>&gt; 80</a:t>
            </a:r>
            <a:endParaRPr lang="en-US" sz="850" dirty="0"/>
          </a:p>
        </p:txBody>
      </p:sp>
      <p:sp>
        <p:nvSpPr>
          <p:cNvPr id="99" name="Shape 96"/>
          <p:cNvSpPr/>
          <p:nvPr/>
        </p:nvSpPr>
        <p:spPr>
          <a:xfrm>
            <a:off x="201168" y="4576572"/>
            <a:ext cx="8302752" cy="0"/>
          </a:xfrm>
          <a:prstGeom prst="line">
            <a:avLst/>
          </a:prstGeom>
          <a:noFill/>
          <a:ln w="6350">
            <a:solidFill>
              <a:srgbClr val="EFEFEF"/>
            </a:solidFill>
            <a:prstDash val="solid"/>
          </a:ln>
        </p:spPr>
      </p:sp>
      <p:sp>
        <p:nvSpPr>
          <p:cNvPr id="100" name="Shape 97"/>
          <p:cNvSpPr/>
          <p:nvPr/>
        </p:nvSpPr>
        <p:spPr>
          <a:xfrm>
            <a:off x="210312" y="4634179"/>
            <a:ext cx="53035" cy="53035"/>
          </a:xfrm>
          <a:prstGeom prst="ellipse">
            <a:avLst/>
          </a:prstGeom>
          <a:solidFill>
            <a:srgbClr val="B5CC00"/>
          </a:solidFill>
          <a:ln w="12700">
            <a:solidFill>
              <a:srgbClr val="B5CC00"/>
            </a:solidFill>
            <a:prstDash val="solid"/>
          </a:ln>
        </p:spPr>
      </p:sp>
      <p:sp>
        <p:nvSpPr>
          <p:cNvPr id="101" name="Text 98"/>
          <p:cNvSpPr/>
          <p:nvPr/>
        </p:nvSpPr>
        <p:spPr>
          <a:xfrm>
            <a:off x="278892" y="4606747"/>
            <a:ext cx="1371600" cy="287122"/>
          </a:xfrm>
          <a:prstGeom prst="rect">
            <a:avLst/>
          </a:prstGeom>
          <a:noFill/>
          <a:ln/>
        </p:spPr>
        <p:txBody>
          <a:bodyPr wrap="square" lIns="0" tIns="0" rIns="0" bIns="0" rtlCol="0" anchor="t"/>
          <a:lstStyle/>
          <a:p>
            <a:pPr indent="0" marL="0">
              <a:buNone/>
            </a:pPr>
            <a:r>
              <a:rPr lang="en-US" sz="850" b="1" dirty="0">
                <a:solidFill>
                  <a:srgbClr val="3D3D3D"/>
                </a:solidFill>
                <a:latin typeface="Calibri" pitchFamily="34" charset="0"/>
                <a:ea typeface="Calibri" pitchFamily="34" charset="-122"/>
                <a:cs typeface="Calibri" pitchFamily="34" charset="-120"/>
              </a:rPr>
              <a:t>Gradation :</a:t>
            </a:r>
            <a:endParaRPr lang="en-US" sz="850" dirty="0"/>
          </a:p>
        </p:txBody>
      </p:sp>
      <p:sp>
        <p:nvSpPr>
          <p:cNvPr id="102" name="Text 99"/>
          <p:cNvSpPr/>
          <p:nvPr/>
        </p:nvSpPr>
        <p:spPr>
          <a:xfrm>
            <a:off x="1696212" y="4606747"/>
            <a:ext cx="6803136" cy="287122"/>
          </a:xfrm>
          <a:prstGeom prst="rect">
            <a:avLst/>
          </a:prstGeom>
          <a:noFill/>
          <a:ln/>
        </p:spPr>
        <p:txBody>
          <a:bodyPr wrap="square" lIns="0" tIns="0" rIns="0" bIns="0" rtlCol="0" anchor="t"/>
          <a:lstStyle/>
          <a:p>
            <a:pPr indent="0" marL="0">
              <a:buNone/>
            </a:pPr>
            <a:r>
              <a:rPr lang="en-US" sz="850" dirty="0">
                <a:solidFill>
                  <a:srgbClr val="3D3D3D"/>
                </a:solidFill>
                <a:latin typeface="Calibri" pitchFamily="34" charset="0"/>
                <a:ea typeface="Calibri" pitchFamily="34" charset="-122"/>
                <a:cs typeface="Calibri" pitchFamily="34" charset="-120"/>
              </a:rPr>
              <a:t>DALI / DSI / 1-10V (sur demande)</a:t>
            </a:r>
            <a:endParaRPr lang="en-US" sz="850" dirty="0"/>
          </a:p>
        </p:txBody>
      </p:sp>
      <p:sp>
        <p:nvSpPr>
          <p:cNvPr id="103" name="Shape 100"/>
          <p:cNvSpPr/>
          <p:nvPr/>
        </p:nvSpPr>
        <p:spPr>
          <a:xfrm>
            <a:off x="201168" y="4891126"/>
            <a:ext cx="8302752" cy="0"/>
          </a:xfrm>
          <a:prstGeom prst="line">
            <a:avLst/>
          </a:prstGeom>
          <a:noFill/>
          <a:ln w="6350">
            <a:solidFill>
              <a:srgbClr val="EFEFEF"/>
            </a:solidFill>
            <a:prstDash val="solid"/>
          </a:ln>
        </p:spPr>
      </p:sp>
      <p:sp>
        <p:nvSpPr>
          <p:cNvPr id="104" name="Shape 101"/>
          <p:cNvSpPr/>
          <p:nvPr/>
        </p:nvSpPr>
        <p:spPr>
          <a:xfrm>
            <a:off x="210312" y="4948733"/>
            <a:ext cx="53035" cy="53035"/>
          </a:xfrm>
          <a:prstGeom prst="ellipse">
            <a:avLst/>
          </a:prstGeom>
          <a:solidFill>
            <a:srgbClr val="B5CC00"/>
          </a:solidFill>
          <a:ln w="12700">
            <a:solidFill>
              <a:srgbClr val="B5CC00"/>
            </a:solidFill>
            <a:prstDash val="solid"/>
          </a:ln>
        </p:spPr>
      </p:sp>
      <p:sp>
        <p:nvSpPr>
          <p:cNvPr id="105" name="Text 102"/>
          <p:cNvSpPr/>
          <p:nvPr/>
        </p:nvSpPr>
        <p:spPr>
          <a:xfrm>
            <a:off x="278892" y="4921301"/>
            <a:ext cx="1371600" cy="287122"/>
          </a:xfrm>
          <a:prstGeom prst="rect">
            <a:avLst/>
          </a:prstGeom>
          <a:noFill/>
          <a:ln/>
        </p:spPr>
        <p:txBody>
          <a:bodyPr wrap="square" lIns="0" tIns="0" rIns="0" bIns="0" rtlCol="0" anchor="t"/>
          <a:lstStyle/>
          <a:p>
            <a:pPr indent="0" marL="0">
              <a:buNone/>
            </a:pPr>
            <a:r>
              <a:rPr lang="en-US" sz="850" b="1" dirty="0">
                <a:solidFill>
                  <a:srgbClr val="3D3D3D"/>
                </a:solidFill>
                <a:latin typeface="Calibri" pitchFamily="34" charset="0"/>
                <a:ea typeface="Calibri" pitchFamily="34" charset="-122"/>
                <a:cs typeface="Calibri" pitchFamily="34" charset="-120"/>
              </a:rPr>
              <a:t>Montages :</a:t>
            </a:r>
            <a:endParaRPr lang="en-US" sz="850" dirty="0"/>
          </a:p>
        </p:txBody>
      </p:sp>
      <p:sp>
        <p:nvSpPr>
          <p:cNvPr id="106" name="Text 103"/>
          <p:cNvSpPr/>
          <p:nvPr/>
        </p:nvSpPr>
        <p:spPr>
          <a:xfrm>
            <a:off x="1696212" y="4921301"/>
            <a:ext cx="6803136" cy="287122"/>
          </a:xfrm>
          <a:prstGeom prst="rect">
            <a:avLst/>
          </a:prstGeom>
          <a:noFill/>
          <a:ln/>
        </p:spPr>
        <p:txBody>
          <a:bodyPr wrap="square" lIns="0" tIns="0" rIns="0" bIns="0" rtlCol="0" anchor="t"/>
          <a:lstStyle/>
          <a:p>
            <a:pPr indent="0" marL="0">
              <a:buNone/>
            </a:pPr>
            <a:r>
              <a:rPr lang="en-US" sz="850" dirty="0">
                <a:solidFill>
                  <a:srgbClr val="3D3D3D"/>
                </a:solidFill>
                <a:latin typeface="Calibri" pitchFamily="34" charset="0"/>
                <a:ea typeface="Calibri" pitchFamily="34" charset="-122"/>
                <a:cs typeface="Calibri" pitchFamily="34" charset="-120"/>
              </a:rPr>
              <a:t>Surface · Suspension · Encastré · Plafond · Poteau · Mural</a:t>
            </a:r>
            <a:endParaRPr lang="en-US" sz="850" dirty="0"/>
          </a:p>
        </p:txBody>
      </p:sp>
      <p:sp>
        <p:nvSpPr>
          <p:cNvPr id="107" name="Shape 104"/>
          <p:cNvSpPr/>
          <p:nvPr/>
        </p:nvSpPr>
        <p:spPr>
          <a:xfrm>
            <a:off x="201168" y="5205679"/>
            <a:ext cx="8302752" cy="0"/>
          </a:xfrm>
          <a:prstGeom prst="line">
            <a:avLst/>
          </a:prstGeom>
          <a:noFill/>
          <a:ln w="6350">
            <a:solidFill>
              <a:srgbClr val="EFEFEF"/>
            </a:solidFill>
            <a:prstDash val="solid"/>
          </a:ln>
        </p:spPr>
      </p:sp>
      <p:sp>
        <p:nvSpPr>
          <p:cNvPr id="108" name="Shape 105"/>
          <p:cNvSpPr/>
          <p:nvPr/>
        </p:nvSpPr>
        <p:spPr>
          <a:xfrm>
            <a:off x="210312" y="5263286"/>
            <a:ext cx="53035" cy="53035"/>
          </a:xfrm>
          <a:prstGeom prst="ellipse">
            <a:avLst/>
          </a:prstGeom>
          <a:solidFill>
            <a:srgbClr val="B5CC00"/>
          </a:solidFill>
          <a:ln w="12700">
            <a:solidFill>
              <a:srgbClr val="B5CC00"/>
            </a:solidFill>
            <a:prstDash val="solid"/>
          </a:ln>
        </p:spPr>
      </p:sp>
      <p:sp>
        <p:nvSpPr>
          <p:cNvPr id="109" name="Text 106"/>
          <p:cNvSpPr/>
          <p:nvPr/>
        </p:nvSpPr>
        <p:spPr>
          <a:xfrm>
            <a:off x="278892" y="5235854"/>
            <a:ext cx="1371600" cy="287122"/>
          </a:xfrm>
          <a:prstGeom prst="rect">
            <a:avLst/>
          </a:prstGeom>
          <a:noFill/>
          <a:ln/>
        </p:spPr>
        <p:txBody>
          <a:bodyPr wrap="square" lIns="0" tIns="0" rIns="0" bIns="0" rtlCol="0" anchor="t"/>
          <a:lstStyle/>
          <a:p>
            <a:pPr indent="0" marL="0">
              <a:buNone/>
            </a:pPr>
            <a:r>
              <a:rPr lang="en-US" sz="850" b="1" dirty="0">
                <a:solidFill>
                  <a:srgbClr val="3D3D3D"/>
                </a:solidFill>
                <a:latin typeface="Calibri" pitchFamily="34" charset="0"/>
                <a:ea typeface="Calibri" pitchFamily="34" charset="-122"/>
                <a:cs typeface="Calibri" pitchFamily="34" charset="-120"/>
              </a:rPr>
              <a:t>Origine :</a:t>
            </a:r>
            <a:endParaRPr lang="en-US" sz="850" dirty="0"/>
          </a:p>
        </p:txBody>
      </p:sp>
      <p:sp>
        <p:nvSpPr>
          <p:cNvPr id="110" name="Text 107"/>
          <p:cNvSpPr/>
          <p:nvPr/>
        </p:nvSpPr>
        <p:spPr>
          <a:xfrm>
            <a:off x="1696212" y="5235854"/>
            <a:ext cx="6803136" cy="287122"/>
          </a:xfrm>
          <a:prstGeom prst="rect">
            <a:avLst/>
          </a:prstGeom>
          <a:noFill/>
          <a:ln/>
        </p:spPr>
        <p:txBody>
          <a:bodyPr wrap="square" lIns="0" tIns="0" rIns="0" bIns="0" rtlCol="0" anchor="t"/>
          <a:lstStyle/>
          <a:p>
            <a:pPr indent="0" marL="0">
              <a:buNone/>
            </a:pPr>
            <a:r>
              <a:rPr lang="en-US" sz="850" dirty="0">
                <a:solidFill>
                  <a:srgbClr val="3D3D3D"/>
                </a:solidFill>
                <a:latin typeface="Calibri" pitchFamily="34" charset="0"/>
                <a:ea typeface="Calibri" pitchFamily="34" charset="-122"/>
                <a:cs typeface="Calibri" pitchFamily="34" charset="-120"/>
              </a:rPr>
              <a:t>Fabriqué en Europe</a:t>
            </a:r>
            <a:endParaRPr lang="en-US" sz="850" dirty="0"/>
          </a:p>
        </p:txBody>
      </p:sp>
      <p:sp>
        <p:nvSpPr>
          <p:cNvPr id="111" name="Shape 108"/>
          <p:cNvSpPr/>
          <p:nvPr/>
        </p:nvSpPr>
        <p:spPr>
          <a:xfrm>
            <a:off x="201168" y="5520233"/>
            <a:ext cx="8302752" cy="0"/>
          </a:xfrm>
          <a:prstGeom prst="line">
            <a:avLst/>
          </a:prstGeom>
          <a:noFill/>
          <a:ln w="6350">
            <a:solidFill>
              <a:srgbClr val="EFEFEF"/>
            </a:solidFill>
            <a:prstDash val="solid"/>
          </a:ln>
        </p:spPr>
      </p:sp>
      <p:sp>
        <p:nvSpPr>
          <p:cNvPr id="112" name="Shape 109"/>
          <p:cNvSpPr/>
          <p:nvPr/>
        </p:nvSpPr>
        <p:spPr>
          <a:xfrm>
            <a:off x="210312" y="5577840"/>
            <a:ext cx="53035" cy="53035"/>
          </a:xfrm>
          <a:prstGeom prst="ellipse">
            <a:avLst/>
          </a:prstGeom>
          <a:solidFill>
            <a:srgbClr val="B5CC00"/>
          </a:solidFill>
          <a:ln w="12700">
            <a:solidFill>
              <a:srgbClr val="B5CC00"/>
            </a:solidFill>
            <a:prstDash val="solid"/>
          </a:ln>
        </p:spPr>
      </p:sp>
      <p:sp>
        <p:nvSpPr>
          <p:cNvPr id="113" name="Text 110"/>
          <p:cNvSpPr/>
          <p:nvPr/>
        </p:nvSpPr>
        <p:spPr>
          <a:xfrm>
            <a:off x="278892" y="5550408"/>
            <a:ext cx="1371600" cy="287122"/>
          </a:xfrm>
          <a:prstGeom prst="rect">
            <a:avLst/>
          </a:prstGeom>
          <a:noFill/>
          <a:ln/>
        </p:spPr>
        <p:txBody>
          <a:bodyPr wrap="square" lIns="0" tIns="0" rIns="0" bIns="0" rtlCol="0" anchor="t"/>
          <a:lstStyle/>
          <a:p>
            <a:pPr indent="0" marL="0">
              <a:buNone/>
            </a:pPr>
            <a:r>
              <a:rPr lang="en-US" sz="850" b="1" dirty="0">
                <a:solidFill>
                  <a:srgbClr val="3D3D3D"/>
                </a:solidFill>
                <a:latin typeface="Calibri" pitchFamily="34" charset="0"/>
                <a:ea typeface="Calibri" pitchFamily="34" charset="-122"/>
                <a:cs typeface="Calibri" pitchFamily="34" charset="-120"/>
              </a:rPr>
              <a:t>Garantie :</a:t>
            </a:r>
            <a:endParaRPr lang="en-US" sz="850" dirty="0"/>
          </a:p>
        </p:txBody>
      </p:sp>
      <p:sp>
        <p:nvSpPr>
          <p:cNvPr id="114" name="Text 111"/>
          <p:cNvSpPr/>
          <p:nvPr/>
        </p:nvSpPr>
        <p:spPr>
          <a:xfrm>
            <a:off x="1696212" y="5550408"/>
            <a:ext cx="6803136" cy="287122"/>
          </a:xfrm>
          <a:prstGeom prst="rect">
            <a:avLst/>
          </a:prstGeom>
          <a:noFill/>
          <a:ln/>
        </p:spPr>
        <p:txBody>
          <a:bodyPr wrap="square" lIns="0" tIns="0" rIns="0" bIns="0" rtlCol="0" anchor="t"/>
          <a:lstStyle/>
          <a:p>
            <a:pPr indent="0" marL="0">
              <a:buNone/>
            </a:pPr>
            <a:r>
              <a:rPr lang="en-US" sz="850" dirty="0">
                <a:solidFill>
                  <a:srgbClr val="3D3D3D"/>
                </a:solidFill>
                <a:latin typeface="Calibri" pitchFamily="34" charset="0"/>
                <a:ea typeface="Calibri" pitchFamily="34" charset="-122"/>
                <a:cs typeface="Calibri" pitchFamily="34" charset="-120"/>
              </a:rPr>
              <a:t>5 ans</a:t>
            </a:r>
            <a:endParaRPr lang="en-US" sz="850" dirty="0"/>
          </a:p>
        </p:txBody>
      </p:sp>
      <p:sp>
        <p:nvSpPr>
          <p:cNvPr id="115" name="Shape 112"/>
          <p:cNvSpPr/>
          <p:nvPr/>
        </p:nvSpPr>
        <p:spPr>
          <a:xfrm>
            <a:off x="8732520" y="1577340"/>
            <a:ext cx="3886200" cy="3520440"/>
          </a:xfrm>
          <a:prstGeom prst="rect">
            <a:avLst/>
          </a:prstGeom>
          <a:solidFill>
            <a:srgbClr val="F4F4F4"/>
          </a:solidFill>
          <a:ln w="6350">
            <a:solidFill>
              <a:srgbClr val="DEDEDE"/>
            </a:solidFill>
            <a:prstDash val="solid"/>
          </a:ln>
        </p:spPr>
      </p:sp>
      <p:sp>
        <p:nvSpPr>
          <p:cNvPr id="116" name="Text 113"/>
          <p:cNvSpPr/>
          <p:nvPr/>
        </p:nvSpPr>
        <p:spPr>
          <a:xfrm>
            <a:off x="8732520" y="3200400"/>
            <a:ext cx="3886200" cy="274320"/>
          </a:xfrm>
          <a:prstGeom prst="rect">
            <a:avLst/>
          </a:prstGeom>
          <a:noFill/>
          <a:ln/>
        </p:spPr>
        <p:txBody>
          <a:bodyPr wrap="square" lIns="0" tIns="0" rIns="0" bIns="0" rtlCol="0" anchor="ctr"/>
          <a:lstStyle/>
          <a:p>
            <a:pPr algn="ctr" indent="0" marL="0">
              <a:buNone/>
            </a:pPr>
            <a:r>
              <a:rPr lang="en-US" sz="1000" i="1" dirty="0">
                <a:solidFill>
                  <a:srgbClr val="BBBBBB"/>
                </a:solidFill>
                <a:latin typeface="Calibri" pitchFamily="34" charset="0"/>
                <a:ea typeface="Calibri" pitchFamily="34" charset="-122"/>
                <a:cs typeface="Calibri" pitchFamily="34" charset="-120"/>
              </a:rPr>
              <a:t>Photo produit</a:t>
            </a:r>
            <a:endParaRPr lang="en-US" sz="1000" dirty="0"/>
          </a:p>
        </p:txBody>
      </p:sp>
      <p:sp>
        <p:nvSpPr>
          <p:cNvPr id="117" name="Shape 114"/>
          <p:cNvSpPr/>
          <p:nvPr/>
        </p:nvSpPr>
        <p:spPr>
          <a:xfrm>
            <a:off x="8732520" y="4896612"/>
            <a:ext cx="3886200" cy="201168"/>
          </a:xfrm>
          <a:prstGeom prst="rect">
            <a:avLst/>
          </a:prstGeom>
          <a:solidFill>
            <a:srgbClr val="B5CC00"/>
          </a:solidFill>
          <a:ln w="12700">
            <a:solidFill>
              <a:srgbClr val="B5CC00"/>
            </a:solidFill>
            <a:prstDash val="solid"/>
          </a:ln>
        </p:spPr>
      </p:sp>
      <p:sp>
        <p:nvSpPr>
          <p:cNvPr id="118" name="Text 115"/>
          <p:cNvSpPr/>
          <p:nvPr/>
        </p:nvSpPr>
        <p:spPr>
          <a:xfrm>
            <a:off x="8732520" y="4896612"/>
            <a:ext cx="3886200" cy="201168"/>
          </a:xfrm>
          <a:prstGeom prst="rect">
            <a:avLst/>
          </a:prstGeom>
          <a:noFill/>
          <a:ln/>
        </p:spPr>
        <p:txBody>
          <a:bodyPr wrap="square" lIns="0" tIns="0" rIns="0" bIns="0" rtlCol="0" anchor="ctr"/>
          <a:lstStyle/>
          <a:p>
            <a:pPr algn="ctr" indent="0" marL="0">
              <a:buNone/>
            </a:pPr>
            <a:r>
              <a:rPr lang="en-US" sz="650" b="1" spc="100" kern="0" dirty="0">
                <a:solidFill>
                  <a:srgbClr val="3D3D3D"/>
                </a:solidFill>
                <a:latin typeface="Calibri" pitchFamily="34" charset="0"/>
                <a:ea typeface="Calibri" pitchFamily="34" charset="-122"/>
                <a:cs typeface="Calibri" pitchFamily="34" charset="-120"/>
              </a:rPr>
              <a:t>PHOTO PRODUIT</a:t>
            </a:r>
            <a:endParaRPr lang="en-US" sz="650" dirty="0"/>
          </a:p>
        </p:txBody>
      </p:sp>
      <p:sp>
        <p:nvSpPr>
          <p:cNvPr id="119" name="Shape 116"/>
          <p:cNvSpPr/>
          <p:nvPr/>
        </p:nvSpPr>
        <p:spPr>
          <a:xfrm>
            <a:off x="8732520" y="5234940"/>
            <a:ext cx="3886200" cy="2482596"/>
          </a:xfrm>
          <a:prstGeom prst="rect">
            <a:avLst/>
          </a:prstGeom>
          <a:solidFill>
            <a:srgbClr val="EFEFEF"/>
          </a:solidFill>
          <a:ln w="6350">
            <a:solidFill>
              <a:srgbClr val="DEDEDE"/>
            </a:solidFill>
            <a:prstDash val="solid"/>
          </a:ln>
        </p:spPr>
      </p:sp>
      <p:sp>
        <p:nvSpPr>
          <p:cNvPr id="120" name="Text 117"/>
          <p:cNvSpPr/>
          <p:nvPr/>
        </p:nvSpPr>
        <p:spPr>
          <a:xfrm>
            <a:off x="8732520" y="6201918"/>
            <a:ext cx="3886200" cy="548640"/>
          </a:xfrm>
          <a:prstGeom prst="rect">
            <a:avLst/>
          </a:prstGeom>
          <a:noFill/>
          <a:ln/>
        </p:spPr>
        <p:txBody>
          <a:bodyPr wrap="square" lIns="0" tIns="0" rIns="0" bIns="0" rtlCol="0" anchor="ctr"/>
          <a:lstStyle/>
          <a:p>
            <a:pPr algn="ctr" indent="0" marL="0">
              <a:buNone/>
            </a:pPr>
            <a:r>
              <a:rPr lang="en-US" sz="850" i="1" dirty="0">
                <a:solidFill>
                  <a:srgbClr val="C0C0C0"/>
                </a:solidFill>
                <a:latin typeface="Calibri" pitchFamily="34" charset="0"/>
                <a:ea typeface="Calibri" pitchFamily="34" charset="-122"/>
                <a:cs typeface="Calibri" pitchFamily="34" charset="-120"/>
              </a:rPr>
              <a:t>Diagramme polaire</a:t>
            </a:r>
            <a:endParaRPr lang="en-US" sz="850" dirty="0"/>
          </a:p>
          <a:p>
            <a:pPr algn="ctr" indent="0" marL="0">
              <a:buNone/>
            </a:pPr>
            <a:r>
              <a:rPr lang="en-US" sz="850" i="1" dirty="0">
                <a:solidFill>
                  <a:srgbClr val="C0C0C0"/>
                </a:solidFill>
                <a:latin typeface="Calibri" pitchFamily="34" charset="0"/>
                <a:ea typeface="Calibri" pitchFamily="34" charset="-122"/>
                <a:cs typeface="Calibri" pitchFamily="34" charset="-120"/>
              </a:rPr>
              <a:t>(non disponible)</a:t>
            </a:r>
            <a:endParaRPr lang="en-US" sz="850" dirty="0"/>
          </a:p>
        </p:txBody>
      </p:sp>
      <p:sp>
        <p:nvSpPr>
          <p:cNvPr id="121" name="Shape 118"/>
          <p:cNvSpPr/>
          <p:nvPr/>
        </p:nvSpPr>
        <p:spPr>
          <a:xfrm>
            <a:off x="8732520" y="7516368"/>
            <a:ext cx="3886200" cy="201168"/>
          </a:xfrm>
          <a:prstGeom prst="rect">
            <a:avLst/>
          </a:prstGeom>
          <a:solidFill>
            <a:srgbClr val="3D3D3D"/>
          </a:solidFill>
          <a:ln w="12700">
            <a:solidFill>
              <a:srgbClr val="3D3D3D"/>
            </a:solidFill>
            <a:prstDash val="solid"/>
          </a:ln>
        </p:spPr>
      </p:sp>
      <p:sp>
        <p:nvSpPr>
          <p:cNvPr id="122" name="Text 119"/>
          <p:cNvSpPr/>
          <p:nvPr/>
        </p:nvSpPr>
        <p:spPr>
          <a:xfrm>
            <a:off x="8732520" y="7516368"/>
            <a:ext cx="3886200" cy="201168"/>
          </a:xfrm>
          <a:prstGeom prst="rect">
            <a:avLst/>
          </a:prstGeom>
          <a:noFill/>
          <a:ln/>
        </p:spPr>
        <p:txBody>
          <a:bodyPr wrap="square" lIns="0" tIns="0" rIns="0" bIns="0" rtlCol="0" anchor="ctr"/>
          <a:lstStyle/>
          <a:p>
            <a:pPr algn="ctr" indent="0" marL="0">
              <a:buNone/>
            </a:pPr>
            <a:r>
              <a:rPr lang="en-US" sz="600" b="1" spc="50" kern="0" dirty="0">
                <a:solidFill>
                  <a:srgbClr val="888888"/>
                </a:solidFill>
                <a:latin typeface="Calibri" pitchFamily="34" charset="0"/>
                <a:ea typeface="Calibri" pitchFamily="34" charset="-122"/>
                <a:cs typeface="Calibri" pitchFamily="34" charset="-120"/>
              </a:rPr>
              <a:t>DIAGRAMME POLAIRE (SI DISPONIBLE)</a:t>
            </a:r>
            <a:endParaRPr lang="en-US" sz="600" dirty="0"/>
          </a:p>
        </p:txBody>
      </p:sp>
      <p:sp>
        <p:nvSpPr>
          <p:cNvPr id="123" name="Shape 120"/>
          <p:cNvSpPr/>
          <p:nvPr/>
        </p:nvSpPr>
        <p:spPr>
          <a:xfrm>
            <a:off x="0" y="7790688"/>
            <a:ext cx="12801600" cy="1298448"/>
          </a:xfrm>
          <a:prstGeom prst="rect">
            <a:avLst/>
          </a:prstGeom>
          <a:solidFill>
            <a:srgbClr val="F4F4F4"/>
          </a:solidFill>
          <a:ln w="6350">
            <a:solidFill>
              <a:srgbClr val="DEDEDE"/>
            </a:solidFill>
            <a:prstDash val="solid"/>
          </a:ln>
        </p:spPr>
      </p:sp>
      <p:sp>
        <p:nvSpPr>
          <p:cNvPr id="124" name="Shape 121"/>
          <p:cNvSpPr/>
          <p:nvPr/>
        </p:nvSpPr>
        <p:spPr>
          <a:xfrm>
            <a:off x="201168" y="7854696"/>
            <a:ext cx="2926080" cy="192024"/>
          </a:xfrm>
          <a:prstGeom prst="rect">
            <a:avLst/>
          </a:prstGeom>
          <a:solidFill>
            <a:srgbClr val="3D3D3D"/>
          </a:solidFill>
          <a:ln w="12700">
            <a:solidFill>
              <a:srgbClr val="3D3D3D"/>
            </a:solidFill>
            <a:prstDash val="solid"/>
          </a:ln>
        </p:spPr>
      </p:sp>
      <p:sp>
        <p:nvSpPr>
          <p:cNvPr id="125" name="Shape 122"/>
          <p:cNvSpPr/>
          <p:nvPr/>
        </p:nvSpPr>
        <p:spPr>
          <a:xfrm>
            <a:off x="201168" y="7854696"/>
            <a:ext cx="50292" cy="192024"/>
          </a:xfrm>
          <a:prstGeom prst="rect">
            <a:avLst/>
          </a:prstGeom>
          <a:solidFill>
            <a:srgbClr val="B5CC00"/>
          </a:solidFill>
          <a:ln w="12700">
            <a:solidFill>
              <a:srgbClr val="B5CC00"/>
            </a:solidFill>
            <a:prstDash val="solid"/>
          </a:ln>
        </p:spPr>
      </p:sp>
      <p:sp>
        <p:nvSpPr>
          <p:cNvPr id="126" name="Text 123"/>
          <p:cNvSpPr/>
          <p:nvPr/>
        </p:nvSpPr>
        <p:spPr>
          <a:xfrm>
            <a:off x="292608" y="7854696"/>
            <a:ext cx="2743200" cy="192024"/>
          </a:xfrm>
          <a:prstGeom prst="rect">
            <a:avLst/>
          </a:prstGeom>
          <a:noFill/>
          <a:ln/>
        </p:spPr>
        <p:txBody>
          <a:bodyPr wrap="square" lIns="0" tIns="0" rIns="0" bIns="0" rtlCol="0" anchor="ctr"/>
          <a:lstStyle/>
          <a:p>
            <a:pPr indent="0" marL="0">
              <a:buNone/>
            </a:pPr>
            <a:r>
              <a:rPr lang="en-US" sz="700" b="1" spc="120" kern="0" dirty="0">
                <a:solidFill>
                  <a:srgbClr val="FFFFFF"/>
                </a:solidFill>
                <a:latin typeface="Calibri" pitchFamily="34" charset="0"/>
                <a:ea typeface="Calibri" pitchFamily="34" charset="-122"/>
                <a:cs typeface="Calibri" pitchFamily="34" charset="-120"/>
              </a:rPr>
              <a:t>SCHÉMA TECHNIQUE</a:t>
            </a:r>
            <a:endParaRPr lang="en-US" sz="700" dirty="0"/>
          </a:p>
        </p:txBody>
      </p:sp>
      <p:sp>
        <p:nvSpPr>
          <p:cNvPr id="127" name="Shape 124"/>
          <p:cNvSpPr/>
          <p:nvPr/>
        </p:nvSpPr>
        <p:spPr>
          <a:xfrm>
            <a:off x="201168" y="8101584"/>
            <a:ext cx="2468880" cy="896112"/>
          </a:xfrm>
          <a:prstGeom prst="rect">
            <a:avLst/>
          </a:prstGeom>
          <a:solidFill>
            <a:srgbClr val="E2E2E2"/>
          </a:solidFill>
          <a:ln w="6350">
            <a:solidFill>
              <a:srgbClr val="DEDEDE"/>
            </a:solidFill>
            <a:prstDash val="solid"/>
          </a:ln>
        </p:spPr>
      </p:sp>
      <p:sp>
        <p:nvSpPr>
          <p:cNvPr id="128" name="Text 125"/>
          <p:cNvSpPr/>
          <p:nvPr/>
        </p:nvSpPr>
        <p:spPr>
          <a:xfrm>
            <a:off x="201168" y="8101584"/>
            <a:ext cx="2468880" cy="896112"/>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Schéma coté A × B × C</a:t>
            </a:r>
            <a:endParaRPr lang="en-US" sz="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880360" y="7854696"/>
          <a:ext cx="9720072" cy="914400"/>
        </p:xfrm>
        <a:graphic>
          <a:graphicData uri="http://schemas.openxmlformats.org/drawingml/2006/table">
            <a:tbl>
              <a:tblPr/>
              <a:tblGrid>
                <a:gridCol w="1947672"/>
                <a:gridCol w="1371600"/>
                <a:gridCol w="1371600"/>
                <a:gridCol w="1257300"/>
                <a:gridCol w="1257300"/>
                <a:gridCol w="1257300"/>
                <a:gridCol w="1257300"/>
              </a:tblGrid>
              <a:tr h="256032">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Référence</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3D3D3D"/>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Puissance (W)</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3D3D3D"/>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Flux (lm)</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3D3D3D"/>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 (mm)</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3D3D3D"/>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B (mm)</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3D3D3D"/>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C (mm)</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3D3D3D"/>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Poids (kg)</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3D3D3D"/>
                    </a:solidFill>
                  </a:tcPr>
                </a:tc>
              </a:tr>
              <a:tr h="256032">
                <a:tc>
                  <a:txBody>
                    <a:bodyPr/>
                    <a:lstStyle/>
                    <a:p>
                      <a:pPr algn="ctr" indent="0" marL="0">
                        <a:buNone/>
                      </a:pPr>
                      <a:r>
                        <a:rPr lang="en-US" sz="750" b="1" dirty="0">
                          <a:solidFill>
                            <a:srgbClr val="3D3D3D"/>
                          </a:solidFill>
                          <a:latin typeface="Calibri" pitchFamily="34" charset="0"/>
                          <a:ea typeface="Calibri" pitchFamily="34" charset="-122"/>
                          <a:cs typeface="Calibri" pitchFamily="34" charset="-120"/>
                        </a:rPr>
                        <a:t>SETBUL-35</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35</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4 470</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703</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310</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142</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7,8</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256032">
                <a:tc>
                  <a:txBody>
                    <a:bodyPr/>
                    <a:lstStyle/>
                    <a:p>
                      <a:pPr algn="ctr" indent="0" marL="0">
                        <a:buNone/>
                      </a:pPr>
                      <a:r>
                        <a:rPr lang="en-US" sz="750" b="1" dirty="0">
                          <a:solidFill>
                            <a:srgbClr val="3D3D3D"/>
                          </a:solidFill>
                          <a:latin typeface="Calibri" pitchFamily="34" charset="0"/>
                          <a:ea typeface="Calibri" pitchFamily="34" charset="-122"/>
                          <a:cs typeface="Calibri" pitchFamily="34" charset="-120"/>
                        </a:rPr>
                        <a:t>SETBUL-70</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EEEEEE"/>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EEEEEE"/>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8 899</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EEEEEE"/>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703</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EEEEEE"/>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369</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EEEEEE"/>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142</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EEEEEE"/>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8,9</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EEEEEE"/>
                    </a:solidFill>
                  </a:tcPr>
                </a:tc>
              </a:tr>
              <a:tr h="256032">
                <a:tc>
                  <a:txBody>
                    <a:bodyPr/>
                    <a:lstStyle/>
                    <a:p>
                      <a:pPr algn="ctr" indent="0" marL="0">
                        <a:buNone/>
                      </a:pPr>
                      <a:r>
                        <a:rPr lang="en-US" sz="750" b="1" dirty="0">
                          <a:solidFill>
                            <a:srgbClr val="3D3D3D"/>
                          </a:solidFill>
                          <a:latin typeface="Calibri" pitchFamily="34" charset="0"/>
                          <a:ea typeface="Calibri" pitchFamily="34" charset="-122"/>
                          <a:cs typeface="Calibri" pitchFamily="34" charset="-120"/>
                        </a:rPr>
                        <a:t>SETBUL-104</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104</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13 410</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1 613</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310</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142</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16,7</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r h="256032">
                <a:tc>
                  <a:txBody>
                    <a:bodyPr/>
                    <a:lstStyle/>
                    <a:p>
                      <a:pPr algn="ctr" indent="0" marL="0">
                        <a:buNone/>
                      </a:pPr>
                      <a:r>
                        <a:rPr lang="en-US" sz="750" b="1" dirty="0">
                          <a:solidFill>
                            <a:srgbClr val="3D3D3D"/>
                          </a:solidFill>
                          <a:latin typeface="Calibri" pitchFamily="34" charset="0"/>
                          <a:ea typeface="Calibri" pitchFamily="34" charset="-122"/>
                          <a:cs typeface="Calibri" pitchFamily="34" charset="-120"/>
                        </a:rPr>
                        <a:t>SETBUL-121</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EEEEEE"/>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121</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EEEEEE"/>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15 895</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EEEEEE"/>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1 313</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EEEEEE"/>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369</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EEEEEE"/>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142</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EEEEEE"/>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16,1</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EEEEEE"/>
                    </a:solidFill>
                  </a:tcPr>
                </a:tc>
              </a:tr>
              <a:tr h="256032">
                <a:tc>
                  <a:txBody>
                    <a:bodyPr/>
                    <a:lstStyle/>
                    <a:p>
                      <a:pPr algn="ctr" indent="0" marL="0">
                        <a:buNone/>
                      </a:pPr>
                      <a:r>
                        <a:rPr lang="en-US" sz="750" b="1" dirty="0">
                          <a:solidFill>
                            <a:srgbClr val="3D3D3D"/>
                          </a:solidFill>
                          <a:latin typeface="Calibri" pitchFamily="34" charset="0"/>
                          <a:ea typeface="Calibri" pitchFamily="34" charset="-122"/>
                          <a:cs typeface="Calibri" pitchFamily="34" charset="-120"/>
                        </a:rPr>
                        <a:t>SETBUL-195</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195</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24 845</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1 613</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369</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142</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3D3D3D"/>
                          </a:solidFill>
                          <a:latin typeface="Calibri" pitchFamily="34" charset="0"/>
                          <a:ea typeface="Calibri" pitchFamily="34" charset="-122"/>
                          <a:cs typeface="Calibri" pitchFamily="34" charset="-120"/>
                        </a:rPr>
                        <a:t>19,6</a:t>
                      </a:r>
                      <a:endParaRPr lang="en-US" sz="750" dirty="0">
                        <a:latin typeface="Calibri" charset="0"/>
                        <a:ea typeface="Calibri" charset="0"/>
                        <a:cs typeface="Calibri" charset="0"/>
                      </a:endParaRPr>
                    </a:p>
                  </a:txBody>
                  <a:tcPr marL="91440" marR="91440" marT="45720" marB="45720" anchor="ctr">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solidFill>
                      <a:srgbClr val="FFFFFF"/>
                    </a:solidFill>
                  </a:tcPr>
                </a:tc>
              </a:tr>
            </a:tbl>
          </a:graphicData>
        </a:graphic>
      </p:graphicFrame>
      <p:sp>
        <p:nvSpPr>
          <p:cNvPr id="130" name="Shape 126"/>
          <p:cNvSpPr/>
          <p:nvPr/>
        </p:nvSpPr>
        <p:spPr>
          <a:xfrm>
            <a:off x="0" y="9125712"/>
            <a:ext cx="12801600" cy="475488"/>
          </a:xfrm>
          <a:prstGeom prst="rect">
            <a:avLst/>
          </a:prstGeom>
          <a:solidFill>
            <a:srgbClr val="3D3D3D"/>
          </a:solidFill>
          <a:ln w="12700">
            <a:solidFill>
              <a:srgbClr val="3D3D3D"/>
            </a:solidFill>
            <a:prstDash val="solid"/>
          </a:ln>
        </p:spPr>
      </p:sp>
      <p:sp>
        <p:nvSpPr>
          <p:cNvPr id="131" name="Text 127"/>
          <p:cNvSpPr/>
          <p:nvPr/>
        </p:nvSpPr>
        <p:spPr>
          <a:xfrm>
            <a:off x="228600" y="9125712"/>
            <a:ext cx="6400800" cy="475488"/>
          </a:xfrm>
          <a:prstGeom prst="rect">
            <a:avLst/>
          </a:prstGeom>
          <a:noFill/>
          <a:ln/>
        </p:spPr>
        <p:txBody>
          <a:bodyPr wrap="square" lIns="0" tIns="0" rIns="0" bIns="0" rtlCol="0" anchor="ctr"/>
          <a:lstStyle/>
          <a:p>
            <a:pPr indent="0" marL="0">
              <a:buNone/>
            </a:pPr>
            <a:r>
              <a:rPr lang="en-US" sz="650" dirty="0">
                <a:solidFill>
                  <a:srgbClr val="777777"/>
                </a:solidFill>
                <a:latin typeface="Calibri" pitchFamily="34" charset="0"/>
                <a:ea typeface="Calibri" pitchFamily="34" charset="-122"/>
                <a:cs typeface="Calibri" pitchFamily="34" charset="-120"/>
              </a:rPr>
              <a:t>Uptoled  ·  1 rue des Chaintres  ·  44610 Indre  ·  contact@uptoled.fr  ·  uptoled.fr</a:t>
            </a:r>
            <a:endParaRPr lang="en-US" sz="650" dirty="0"/>
          </a:p>
        </p:txBody>
      </p:sp>
      <p:sp>
        <p:nvSpPr>
          <p:cNvPr id="132" name="Text 128"/>
          <p:cNvSpPr/>
          <p:nvPr/>
        </p:nvSpPr>
        <p:spPr>
          <a:xfrm>
            <a:off x="5029200" y="9125712"/>
            <a:ext cx="2743200" cy="475488"/>
          </a:xfrm>
          <a:prstGeom prst="rect">
            <a:avLst/>
          </a:prstGeom>
          <a:noFill/>
          <a:ln/>
        </p:spPr>
        <p:txBody>
          <a:bodyPr wrap="square" lIns="0" tIns="0" rIns="0" bIns="0" rtlCol="0" anchor="ctr"/>
          <a:lstStyle/>
          <a:p>
            <a:pPr algn="ctr" indent="0" marL="0">
              <a:buNone/>
            </a:pPr>
            <a:r>
              <a:rPr lang="en-US" sz="700" b="1" spc="80" kern="0" dirty="0">
                <a:solidFill>
                  <a:srgbClr val="B5CC00"/>
                </a:solidFill>
                <a:latin typeface="Calibri" pitchFamily="34" charset="0"/>
                <a:ea typeface="Calibri" pitchFamily="34" charset="-122"/>
                <a:cs typeface="Calibri" pitchFamily="34" charset="-120"/>
              </a:rPr>
              <a:t>FT-SETBUL-2026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2026-05-05T21:10:00Z</dcterms:created>
  <dcterms:modified xsi:type="dcterms:W3CDTF">2026-05-05T21:10:00Z</dcterms:modified>
</cp:coreProperties>
</file>